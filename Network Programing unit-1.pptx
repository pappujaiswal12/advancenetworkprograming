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6" r:id="rId16"/>
    <p:sldId id="269" r:id="rId17"/>
    <p:sldId id="275" r:id="rId18"/>
    <p:sldId id="271" r:id="rId19"/>
    <p:sldId id="270" r:id="rId20"/>
    <p:sldId id="272" r:id="rId21"/>
    <p:sldId id="273" r:id="rId22"/>
    <p:sldId id="274" r:id="rId23"/>
    <p:sldId id="277" r:id="rId24"/>
    <p:sldId id="278" r:id="rId25"/>
    <p:sldId id="279" r:id="rId26"/>
    <p:sldId id="280" r:id="rId27"/>
    <p:sldId id="281"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Network Programing</a:t>
            </a:r>
            <a:br>
              <a:rPr lang="en-US"/>
            </a:b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Introduction:</a:t>
            </a:r>
            <a:endParaRPr lang="en-US"/>
          </a:p>
        </p:txBody>
      </p:sp>
      <p:sp>
        <p:nvSpPr>
          <p:cNvPr id="3" name="Content Placeholder 2"/>
          <p:cNvSpPr>
            <a:spLocks noGrp="1"/>
          </p:cNvSpPr>
          <p:nvPr>
            <p:ph idx="1"/>
          </p:nvPr>
        </p:nvSpPr>
        <p:spPr/>
        <p:txBody>
          <a:bodyPr>
            <a:normAutofit/>
          </a:bodyPr>
          <a:p>
            <a:r>
              <a:rPr lang="en-US" altLang="en-US" sz="2000"/>
              <a:t>Network programming is the process of writing computer programs that allow devices to communicate with each other over a network. It involves creating applications that can send, receive, and process data between systems by using protocols like TCP/IP and concepts like client-server architecture and sockets.</a:t>
            </a:r>
            <a:endParaRPr lang="en-US" altLang="en-US" sz="2000"/>
          </a:p>
          <a:p>
            <a:r>
              <a:rPr lang="en-US" altLang="en-US" sz="2000"/>
              <a:t>Network programming is no longer the province of a few specialists. It has become a core part of every developer’s toolbox. Today, more programs are network aware. Besides classic applications like email, web browsers, and remote login, most major applications have some level of networking built in. For example:</a:t>
            </a:r>
            <a:endParaRPr lang="en-US" altLang="en-US" sz="2000"/>
          </a:p>
          <a:p>
            <a:endParaRPr lang="en-US"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27685" y="550545"/>
            <a:ext cx="10825480" cy="5756275"/>
          </a:xfrm>
        </p:spPr>
        <p:txBody>
          <a:bodyPr/>
          <a:p>
            <a:r>
              <a:rPr lang="en-US" altLang="en-US" sz="2000"/>
              <a:t>Text editors like BBEdit save and open files directly from FTP servers.</a:t>
            </a:r>
            <a:endParaRPr lang="en-US" altLang="en-US" sz="2000"/>
          </a:p>
          <a:p>
            <a:r>
              <a:rPr lang="en-US" altLang="en-US" sz="2000"/>
              <a:t>IDEs like Eclipse and IntelliJ IDEA communicate with source code repositories like GitHub and Sourceforge.</a:t>
            </a:r>
            <a:endParaRPr lang="en-US" altLang="en-US" sz="2000"/>
          </a:p>
          <a:p>
            <a:r>
              <a:rPr lang="en-US" altLang="en-US" sz="2000"/>
              <a:t>Word processors like Microsoft Word open files from URLs.</a:t>
            </a:r>
            <a:endParaRPr lang="en-US" altLang="en-US" sz="2000"/>
          </a:p>
          <a:p>
            <a:r>
              <a:rPr lang="en-US" altLang="en-US" sz="2000"/>
              <a:t>Antivirus programs like Norton AntiVirus check for new virus definitions by con‐necting to the vendor’s website every time the computer is started.</a:t>
            </a:r>
            <a:endParaRPr lang="en-US" altLang="en-US" sz="2000"/>
          </a:p>
          <a:p>
            <a:r>
              <a:rPr lang="en-US" altLang="en-US" sz="2000"/>
              <a:t>Music players like Winamp and iTunes upload CD track lengths to CDDB and download the corresponding track titles.</a:t>
            </a:r>
            <a:endParaRPr lang="en-US" altLang="en-US" sz="2000"/>
          </a:p>
          <a:p>
            <a:r>
              <a:rPr lang="en-US" altLang="en-US" sz="2000"/>
              <a:t> Gamers playing multiplayer first-person shooters like Halo gleefully frag each other in real time.</a:t>
            </a:r>
            <a:endParaRPr lang="en-US" altLang="en-US" sz="2000"/>
          </a:p>
          <a:p>
            <a:endParaRPr lang="en-US" altLang="en-US" sz="2000"/>
          </a:p>
          <a:p>
            <a:endParaRPr lang="en-US" altLang="en-US"/>
          </a:p>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51180"/>
            <a:ext cx="10515600" cy="5626100"/>
          </a:xfrm>
        </p:spPr>
        <p:txBody>
          <a:bodyPr/>
          <a:p>
            <a:pPr marL="0" indent="0">
              <a:buNone/>
            </a:pPr>
            <a:r>
              <a:rPr lang="en-US" altLang="en-US" sz="2000"/>
              <a:t>Network programming is a part of software development that focuses on building applications capable of network communication. This can include:</a:t>
            </a:r>
            <a:endParaRPr lang="en-US" altLang="en-US" sz="2000"/>
          </a:p>
          <a:p>
            <a:r>
              <a:rPr lang="en-US" altLang="en-US" sz="2000"/>
              <a:t>Sending requests and receiving responses (like a web browser),</a:t>
            </a:r>
            <a:endParaRPr lang="en-US" altLang="en-US" sz="2000"/>
          </a:p>
          <a:p>
            <a:r>
              <a:rPr lang="en-US" altLang="en-US" sz="2000"/>
              <a:t>Exchanging messages (like in chat apps),</a:t>
            </a:r>
            <a:endParaRPr lang="en-US" altLang="en-US" sz="2000"/>
          </a:p>
          <a:p>
            <a:r>
              <a:rPr lang="en-US" altLang="en-US" sz="2000"/>
              <a:t>Transferring files (like FTP or cloud storage),</a:t>
            </a:r>
            <a:endParaRPr lang="en-US" altLang="en-US" sz="2000"/>
          </a:p>
          <a:p>
            <a:r>
              <a:rPr lang="en-US" altLang="en-US" sz="2000"/>
              <a:t>Or managing remote devices (like IoT systems).</a:t>
            </a:r>
            <a:endParaRPr lang="en-US" altLang="en-US" sz="2000"/>
          </a:p>
          <a:p>
            <a:pPr marL="0" indent="0">
              <a:buNone/>
            </a:pPr>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Features of Network Programming</a:t>
            </a:r>
            <a:endParaRPr lang="en-US" altLang="en-US"/>
          </a:p>
        </p:txBody>
      </p:sp>
      <p:sp>
        <p:nvSpPr>
          <p:cNvPr id="3" name="Content Placeholder 2"/>
          <p:cNvSpPr>
            <a:spLocks noGrp="1"/>
          </p:cNvSpPr>
          <p:nvPr>
            <p:ph idx="1"/>
          </p:nvPr>
        </p:nvSpPr>
        <p:spPr/>
        <p:txBody>
          <a:bodyPr>
            <a:normAutofit lnSpcReduction="20000"/>
          </a:bodyPr>
          <a:p>
            <a:pPr marL="0" indent="0">
              <a:buNone/>
            </a:pPr>
            <a:r>
              <a:rPr lang="en-US" sz="2400" b="1"/>
              <a:t>1. </a:t>
            </a:r>
            <a:r>
              <a:rPr lang="en-US" altLang="en-US" sz="2400" b="1"/>
              <a:t>Client–Server Communication:</a:t>
            </a:r>
            <a:r>
              <a:rPr lang="en-US" altLang="en-US"/>
              <a:t> </a:t>
            </a:r>
            <a:r>
              <a:rPr lang="en-US" altLang="en-US" sz="2000"/>
              <a:t>Network programming allows multiple clients to communicate with one or more servers.</a:t>
            </a:r>
            <a:endParaRPr lang="en-US" altLang="en-US" sz="2000"/>
          </a:p>
          <a:p>
            <a:pPr marL="0" indent="0">
              <a:buNone/>
            </a:pPr>
            <a:r>
              <a:rPr lang="en-US" altLang="en-US" sz="2000"/>
              <a:t>Examples include:</a:t>
            </a:r>
            <a:endParaRPr lang="en-US" altLang="en-US" sz="2000"/>
          </a:p>
          <a:p>
            <a:r>
              <a:rPr lang="en-US" altLang="en-US" sz="2000"/>
              <a:t>Web browsers communicating with web servers.</a:t>
            </a:r>
            <a:endParaRPr lang="en-US" altLang="en-US" sz="2000"/>
          </a:p>
          <a:p>
            <a:r>
              <a:rPr lang="en-US" altLang="en-US" sz="2000"/>
              <a:t>Mobile apps communicating with cloud databases.</a:t>
            </a:r>
            <a:endParaRPr lang="en-US" altLang="en-US" sz="2000"/>
          </a:p>
          <a:p>
            <a:pPr marL="0" indent="0">
              <a:buNone/>
            </a:pPr>
            <a:r>
              <a:rPr lang="en-US" altLang="en-US" sz="2000"/>
              <a:t>It follows the request–response pattern:</a:t>
            </a:r>
            <a:endParaRPr lang="en-US" altLang="en-US" sz="2000"/>
          </a:p>
          <a:p>
            <a:pPr marL="0" indent="0">
              <a:buNone/>
            </a:pPr>
            <a:r>
              <a:rPr lang="en-US" altLang="en-US" sz="2000"/>
              <a:t>Client sends a request → Server processes → Server sends response.</a:t>
            </a:r>
            <a:endParaRPr lang="en-US"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74650"/>
            <a:ext cx="10515600" cy="5802630"/>
          </a:xfrm>
        </p:spPr>
        <p:txBody>
          <a:bodyPr>
            <a:normAutofit lnSpcReduction="10000"/>
          </a:bodyPr>
          <a:p>
            <a:pPr marL="0" indent="0">
              <a:buNone/>
            </a:pPr>
            <a:r>
              <a:rPr lang="en-US" sz="2400" b="1"/>
              <a:t>2. </a:t>
            </a:r>
            <a:r>
              <a:rPr lang="en-US" altLang="en-US" sz="2400" b="1"/>
              <a:t>Socket Programming</a:t>
            </a:r>
            <a:endParaRPr lang="en-US" altLang="en-US" sz="2400" b="1"/>
          </a:p>
          <a:p>
            <a:pPr marL="0" indent="0">
              <a:buNone/>
            </a:pPr>
            <a:r>
              <a:rPr lang="en-US" altLang="en-US" sz="2000"/>
              <a:t>Sockets are the core of network programming. A socket acts as a connection point through which data is sent and received between two machines.</a:t>
            </a:r>
            <a:endParaRPr lang="en-US" altLang="en-US"/>
          </a:p>
          <a:p>
            <a:pPr marL="0" indent="0">
              <a:buNone/>
            </a:pPr>
            <a:r>
              <a:rPr lang="en-US" altLang="en-US" sz="2000"/>
              <a:t>There are two main types of sockets:</a:t>
            </a:r>
            <a:endParaRPr lang="en-US" altLang="en-US" sz="2000"/>
          </a:p>
          <a:p>
            <a:pPr marL="0" indent="0">
              <a:buNone/>
            </a:pPr>
            <a:r>
              <a:rPr lang="en-US" altLang="en-US" sz="2000" b="1"/>
              <a:t>a) TCP Socket (Stream Socket):</a:t>
            </a:r>
            <a:endParaRPr lang="en-US" altLang="en-US" sz="2000"/>
          </a:p>
          <a:p>
            <a:r>
              <a:rPr lang="en-US" altLang="en-US" sz="2000"/>
              <a:t>Uses Transmission Control Protocol (TCP).</a:t>
            </a:r>
            <a:endParaRPr lang="en-US" altLang="en-US" sz="2000"/>
          </a:p>
          <a:p>
            <a:r>
              <a:rPr lang="en-US" altLang="en-US" sz="2000"/>
              <a:t>Ensures reliable, ordered, and error-checked data transmission.</a:t>
            </a:r>
            <a:endParaRPr lang="en-US" altLang="en-US" sz="2000"/>
          </a:p>
          <a:p>
            <a:r>
              <a:rPr lang="en-US" altLang="en-US" sz="2000"/>
              <a:t>Used in applications like web browsers, email, and file transfer.</a:t>
            </a:r>
            <a:endParaRPr lang="en-US" altLang="en-US" sz="2000"/>
          </a:p>
          <a:p>
            <a:pPr marL="0" indent="0">
              <a:buNone/>
            </a:pPr>
            <a:r>
              <a:rPr lang="en-US" altLang="en-US" sz="2000" b="1"/>
              <a:t>b) UDP Socket (Datagram Socket):</a:t>
            </a:r>
            <a:endParaRPr lang="en-US" altLang="en-US" sz="2000"/>
          </a:p>
          <a:p>
            <a:r>
              <a:rPr lang="en-US" altLang="en-US" sz="2000"/>
              <a:t>Uses User Datagram Protocol (UDP).</a:t>
            </a:r>
            <a:endParaRPr lang="en-US" altLang="en-US" sz="2000"/>
          </a:p>
          <a:p>
            <a:r>
              <a:rPr lang="en-US" altLang="en-US" sz="2000"/>
              <a:t>Faster but unreliable (no guarantee of delivery).</a:t>
            </a:r>
            <a:endParaRPr lang="en-US" altLang="en-US" sz="2000"/>
          </a:p>
          <a:p>
            <a:r>
              <a:rPr lang="en-US" altLang="en-US" sz="2000"/>
              <a:t>Used in real-time applications like online games, video streaming, and VoIP.</a:t>
            </a:r>
            <a:endParaRPr lang="en-US"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87655"/>
            <a:ext cx="10515600" cy="5889625"/>
          </a:xfrm>
        </p:spPr>
        <p:txBody>
          <a:bodyPr>
            <a:normAutofit lnSpcReduction="10000"/>
          </a:bodyPr>
          <a:p>
            <a:pPr marL="0" indent="0">
              <a:buNone/>
            </a:pPr>
            <a:r>
              <a:rPr lang="en-US" sz="2000" b="1"/>
              <a:t>3). </a:t>
            </a:r>
            <a:r>
              <a:rPr lang="en-US" altLang="en-US" sz="2000" b="1"/>
              <a:t> Concurrency:</a:t>
            </a:r>
            <a:endParaRPr lang="en-US" altLang="en-US" sz="2000" b="1"/>
          </a:p>
          <a:p>
            <a:pPr marL="0" indent="0">
              <a:buNone/>
            </a:pPr>
            <a:r>
              <a:rPr lang="en-US" altLang="en-US" sz="2000"/>
              <a:t> Concurrency is crucial in network programming to handle multiple clients or tasks simultaneously. Without concurrency, a server would be limited to serving one  client at a time, leading to inefficiency. Techniques like multithreading (using multiple  threads to handle connections), multiprocessing (using multiple processes for parallel  execution), and asynchronous I/O (non-blocking operations) are used to achieve  concurrency. </a:t>
            </a:r>
            <a:endParaRPr lang="en-US" altLang="en-US" sz="2000"/>
          </a:p>
          <a:p>
            <a:pPr marL="0" indent="0">
              <a:buNone/>
            </a:pPr>
            <a:r>
              <a:rPr lang="en-US" altLang="en-US" sz="2000" b="1"/>
              <a:t>4). Support for Multiple Protocols</a:t>
            </a:r>
            <a:endParaRPr lang="en-US" altLang="en-US" sz="2000" b="1"/>
          </a:p>
          <a:p>
            <a:pPr marL="0" indent="0">
              <a:buNone/>
            </a:pPr>
            <a:r>
              <a:rPr lang="en-US" altLang="en-US" sz="2000"/>
              <a:t>Network programming works with various communication protocols, such as:</a:t>
            </a:r>
            <a:endParaRPr lang="en-US" altLang="en-US" sz="2000"/>
          </a:p>
          <a:p>
            <a:r>
              <a:rPr lang="en-US" altLang="en-US" sz="2000" b="1"/>
              <a:t>HTTP / HTTPS</a:t>
            </a:r>
            <a:r>
              <a:rPr lang="en-US" altLang="en-US" sz="2000"/>
              <a:t> → Web communication</a:t>
            </a:r>
            <a:endParaRPr lang="en-US" altLang="en-US" sz="2000"/>
          </a:p>
          <a:p>
            <a:r>
              <a:rPr lang="en-US" altLang="en-US" sz="2000" b="1"/>
              <a:t>FTP</a:t>
            </a:r>
            <a:r>
              <a:rPr lang="en-US" altLang="en-US" sz="2000"/>
              <a:t> → File transfer</a:t>
            </a:r>
            <a:endParaRPr lang="en-US" altLang="en-US" sz="2000"/>
          </a:p>
          <a:p>
            <a:r>
              <a:rPr lang="en-US" altLang="en-US" sz="2000" b="1"/>
              <a:t>SMTP / POP3 / IMAP</a:t>
            </a:r>
            <a:r>
              <a:rPr lang="en-US" altLang="en-US" sz="2000"/>
              <a:t> → Email services</a:t>
            </a:r>
            <a:endParaRPr lang="en-US" altLang="en-US" sz="2000"/>
          </a:p>
          <a:p>
            <a:r>
              <a:rPr lang="en-US" altLang="en-US" sz="2000" b="1"/>
              <a:t>WebSocket / MQTT </a:t>
            </a:r>
            <a:r>
              <a:rPr lang="en-US" altLang="en-US" sz="2000"/>
              <a:t>→ Real-time communication (chats, IoT)</a:t>
            </a:r>
            <a:endParaRPr lang="en-US" altLang="en-US" sz="2000"/>
          </a:p>
          <a:p>
            <a:pPr marL="0" indent="0">
              <a:buNone/>
            </a:pPr>
            <a:r>
              <a:rPr lang="en-US" altLang="en-US" sz="2000"/>
              <a:t>Each protocol defines how data should be formatted, sent, and receive</a:t>
            </a:r>
            <a:endParaRPr lang="en-US"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97230"/>
            <a:ext cx="10515600" cy="5480050"/>
          </a:xfrm>
        </p:spPr>
        <p:txBody>
          <a:bodyPr/>
          <a:p>
            <a:pPr marL="0" indent="0">
              <a:buNone/>
            </a:pPr>
            <a:r>
              <a:rPr lang="en-US" altLang="en-US" sz="2000" b="1"/>
              <a:t>5). Error Handling:</a:t>
            </a:r>
            <a:r>
              <a:rPr lang="en-US" altLang="en-US" sz="2000"/>
              <a:t> Network programming must account for various errors that can occur  during communication, such as connection timeouts, data corruption, and network congestion(state where a network receives more data than it can handle). Robust error handling ensures that applications can recover gracefully from  failures and maintain reliability. For example, if a connection drops, the program might  attempt to reconnect or notify the user. Proper error handling is critical for building  fault-tolerant systems. </a:t>
            </a:r>
            <a:endParaRPr lang="en-US" altLang="en-US" sz="2000"/>
          </a:p>
          <a:p>
            <a:pPr marL="0" indent="0">
              <a:buNone/>
            </a:pPr>
            <a:r>
              <a:rPr lang="en-US" altLang="en-US" sz="2000" b="1"/>
              <a:t>6). Security:</a:t>
            </a:r>
            <a:r>
              <a:rPr lang="en-US" altLang="en-US" sz="2000"/>
              <a:t> Security is a major concern in network programming because data transmitted  over networks is vulnerable to attacks. Measures like encryption, authentication (verifying the identity of clients and servers), and  firewalls (restricting unauthorized access) are essential to protect sensitive information.  Without proper security, applications are at risk of data breaches, eavesdropping, and  other malicious activities. </a:t>
            </a:r>
            <a:endParaRPr lang="en-US" altLang="en-US" sz="2000"/>
          </a:p>
          <a:p>
            <a:pPr marL="0" indent="0">
              <a:buNone/>
            </a:pPr>
            <a:r>
              <a:rPr lang="en-US" altLang="en-US" sz="2000" b="1"/>
              <a:t>7). Cross-Platform Compatibility: </a:t>
            </a:r>
            <a:r>
              <a:rPr lang="en-US" altLang="en-US" sz="2000"/>
              <a:t>Network applications often need to work across different  operating systems and devices. Cross-platform compatibility ensures that a program  written for one platform (e.g., Windows) can also run on another (e.g., Linux).  </a:t>
            </a:r>
            <a:endParaRPr lang="en-US" altLang="en-US" sz="2000"/>
          </a:p>
          <a:p>
            <a:pPr marL="0" indent="0">
              <a:buNone/>
            </a:pPr>
            <a:endParaRPr lang="en-US" altLang="en-US" sz="2000"/>
          </a:p>
          <a:p>
            <a:pPr marL="0" indent="0">
              <a:buNone/>
            </a:pPr>
            <a:endParaRPr lang="en-US" altLang="en-US" sz="2000"/>
          </a:p>
          <a:p>
            <a:endParaRPr lang="en-US"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Scope of Network Programming</a:t>
            </a:r>
            <a:endParaRPr lang="en-US" altLang="en-US"/>
          </a:p>
        </p:txBody>
      </p:sp>
      <p:sp>
        <p:nvSpPr>
          <p:cNvPr id="3" name="Content Placeholder 2"/>
          <p:cNvSpPr>
            <a:spLocks noGrp="1"/>
          </p:cNvSpPr>
          <p:nvPr>
            <p:ph idx="1"/>
          </p:nvPr>
        </p:nvSpPr>
        <p:spPr/>
        <p:txBody>
          <a:bodyPr>
            <a:normAutofit/>
          </a:bodyPr>
          <a:p>
            <a:pPr marL="0" indent="0">
              <a:buNone/>
            </a:pPr>
            <a:r>
              <a:rPr lang="en-US" altLang="en-US" sz="2000" b="1"/>
              <a:t>1). Web Development</a:t>
            </a:r>
            <a:endParaRPr lang="en-US" altLang="en-US" sz="2000"/>
          </a:p>
          <a:p>
            <a:r>
              <a:rPr lang="en-US" altLang="en-US" sz="2000"/>
              <a:t>Websites and web applications are built using network communication between browsers and servers.</a:t>
            </a:r>
            <a:endParaRPr lang="en-US" altLang="en-US" sz="2000"/>
          </a:p>
          <a:p>
            <a:r>
              <a:rPr lang="en-US" altLang="en-US" sz="2000"/>
              <a:t>Backend APIs (like REST and gRPC) depend entirely on network programming.</a:t>
            </a:r>
            <a:endParaRPr lang="en-US" altLang="en-US" sz="2000"/>
          </a:p>
          <a:p>
            <a:pPr marL="0" indent="0">
              <a:buNone/>
            </a:pPr>
            <a:r>
              <a:rPr lang="en-US" altLang="en-US" sz="2000"/>
              <a:t>Example: Facebook, Gmail, YouTube — all use HTTP requests and responses.</a:t>
            </a:r>
            <a:endParaRPr lang="en-US" altLang="en-US" sz="2000"/>
          </a:p>
          <a:p>
            <a:pPr marL="0" indent="0">
              <a:buNone/>
            </a:pPr>
            <a:r>
              <a:rPr lang="en-US" altLang="en-US" sz="2000" b="1"/>
              <a:t>2). Cloud Computing</a:t>
            </a:r>
            <a:endParaRPr lang="en-US" altLang="en-US" sz="2000" b="1"/>
          </a:p>
          <a:p>
            <a:r>
              <a:rPr lang="en-US" altLang="en-US" sz="2000"/>
              <a:t>Cloud platforms (like AWS, Azure, and Google Cloud) rely on communication between distributed servers and clients.</a:t>
            </a:r>
            <a:endParaRPr lang="en-US" altLang="en-US" sz="2000"/>
          </a:p>
          <a:p>
            <a:r>
              <a:rPr lang="en-US" altLang="en-US" sz="2000"/>
              <a:t>Applications like Google Drive and Dropbox use network programming for file upload/download.</a:t>
            </a:r>
            <a:endParaRPr lang="en-US"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05130"/>
            <a:ext cx="10515600" cy="5772150"/>
          </a:xfrm>
        </p:spPr>
        <p:txBody>
          <a:bodyPr>
            <a:normAutofit lnSpcReduction="10000"/>
          </a:bodyPr>
          <a:p>
            <a:pPr marL="0" indent="0" algn="just">
              <a:buNone/>
            </a:pPr>
            <a:r>
              <a:rPr lang="en-US" altLang="en-US" sz="2000" b="1"/>
              <a:t>3. Internet of Things (IoT)</a:t>
            </a:r>
            <a:endParaRPr lang="en-US" altLang="en-US" sz="2000" b="1"/>
          </a:p>
          <a:p>
            <a:pPr algn="just"/>
            <a:r>
              <a:rPr lang="en-US" altLang="en-US" sz="2000"/>
              <a:t>IoT devices (like smart bulbs, watches, cameras) send and receive data through the internet.</a:t>
            </a:r>
            <a:endParaRPr lang="en-US" altLang="en-US" sz="2000"/>
          </a:p>
          <a:p>
            <a:pPr marL="0" indent="0" algn="just">
              <a:buNone/>
            </a:pPr>
            <a:r>
              <a:rPr lang="en-US" altLang="en-US" sz="2000"/>
              <a:t>The Internet of Things (IoT) involves connecting devices like  smart appliances, wearables, and industrial sensors to the internet. Network  programming is used to implement communication protocols. </a:t>
            </a:r>
            <a:endParaRPr lang="en-US" altLang="en-US" sz="2000"/>
          </a:p>
          <a:p>
            <a:pPr marL="0" indent="0" algn="just">
              <a:buNone/>
            </a:pPr>
            <a:r>
              <a:rPr lang="en-US" altLang="en-US" sz="2000" b="1"/>
              <a:t>4). Distributed Systems:</a:t>
            </a:r>
            <a:r>
              <a:rPr lang="en-US" altLang="en-US" sz="2000"/>
              <a:t> Distributed systems involve multiple devices working together to  achieve a common goal. Network programming enables communication between nodes  in distributed systems, ensuring data consistency and fault tolerance. </a:t>
            </a:r>
            <a:endParaRPr lang="en-US" altLang="en-US" sz="2000"/>
          </a:p>
          <a:p>
            <a:pPr marL="0" indent="0" algn="just">
              <a:buNone/>
            </a:pPr>
            <a:r>
              <a:rPr lang="en-US" altLang="en-US" sz="2000" b="1"/>
              <a:t>5). Real-Time Communication:</a:t>
            </a:r>
            <a:r>
              <a:rPr lang="en-US" altLang="en-US" sz="2000"/>
              <a:t> Real-time communication applications require low-latency  and reliable data exchange. For example, video conferencing apps like Zoom and Skype  use real-time communication to enable seamless video and audio calls. </a:t>
            </a:r>
            <a:endParaRPr lang="en-US" altLang="en-US" sz="2000"/>
          </a:p>
          <a:p>
            <a:pPr marL="0" indent="0">
              <a:buNone/>
            </a:pPr>
            <a:r>
              <a:rPr lang="en-US" altLang="en-US" sz="2000" b="1"/>
              <a:t>6). Network Security: </a:t>
            </a:r>
            <a:r>
              <a:rPr lang="en-US" altLang="en-US" sz="2000"/>
              <a:t>Network programming is essential for implementing security  measures to protect data and systems. Technologies like SSL/TLS, VPNs, and firewalls  are built using network programming. For example, SSL/TLS is used to encrypt data  transmitted over the internet, ensuring secure communication between clients and  servers. VPNs (Virtual Private Networks) use network programming to create secure  connections over public networks, protecting user privacy. Firewalls use network programming to monitor and control incoming and outgoing network traffic, preventing  unauthorized access. </a:t>
            </a:r>
            <a:endParaRPr lang="en-US" altLang="en-US" sz="2000"/>
          </a:p>
          <a:p>
            <a:pPr marL="0" indent="0">
              <a:buNone/>
            </a:pPr>
            <a:endParaRPr lang="en-US" altLang="en-US" sz="2000"/>
          </a:p>
          <a:p>
            <a:pPr marL="0" indent="0">
              <a:buNone/>
            </a:pPr>
            <a:endParaRPr lang="en-US"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0810"/>
            <a:ext cx="10515600" cy="975995"/>
          </a:xfrm>
        </p:spPr>
        <p:txBody>
          <a:bodyPr>
            <a:normAutofit fontScale="90000"/>
          </a:bodyPr>
          <a:p>
            <a:r>
              <a:rPr lang="en-US"/>
              <a:t>Common Language for Network Programming</a:t>
            </a:r>
            <a:br>
              <a:rPr lang="en-US"/>
            </a:br>
            <a:endParaRPr lang="en-US"/>
          </a:p>
        </p:txBody>
      </p:sp>
      <p:sp>
        <p:nvSpPr>
          <p:cNvPr id="3" name="Content Placeholder 2"/>
          <p:cNvSpPr>
            <a:spLocks noGrp="1"/>
          </p:cNvSpPr>
          <p:nvPr>
            <p:ph idx="1"/>
          </p:nvPr>
        </p:nvSpPr>
        <p:spPr>
          <a:xfrm>
            <a:off x="838200" y="814705"/>
            <a:ext cx="10515600" cy="5845810"/>
          </a:xfrm>
        </p:spPr>
        <p:txBody>
          <a:bodyPr>
            <a:normAutofit fontScale="70000"/>
          </a:bodyPr>
          <a:p>
            <a:r>
              <a:rPr lang="en-US" altLang="en-US"/>
              <a:t>Python is one of the most popular languages for network programming due to its simplicity,  readability, and extensive libraries. It provides low-level networking capabilities through the  socket module, which allows developers to create TCP/UDP connections. Python is widely  used in web scraping, IoT applications, and API development because of its ease of use and  rapid development capabilities. </a:t>
            </a:r>
            <a:endParaRPr lang="en-US" altLang="en-US"/>
          </a:p>
          <a:p>
            <a:r>
              <a:rPr lang="en-US" altLang="en-US"/>
              <a:t>Java is a versatile and platform-independent language widely used in network  programming, especially for enterprise applications. Its java.net package provides classes for  working with sockets, URLs, and other networking functionalities. Java is commonly used in  distributed systems, web servers, and large-scale enterprise applications due to its strong  ecosystem and cross-platform compatibility. </a:t>
            </a:r>
            <a:endParaRPr lang="en-US" altLang="en-US"/>
          </a:p>
          <a:p>
            <a:r>
              <a:rPr lang="en-US" altLang="en-US"/>
              <a:t>C and C++ are preferred for network programming when performance and low-level  control are critical. These languages provide direct access to system resources and are often  used for building high-performance network applications. C/C++ is commonly used in game  servers, real-time systems, and embedded systems where efficiency and speed are  paramount. </a:t>
            </a:r>
            <a:endParaRPr lang="en-US" altLang="en-US"/>
          </a:p>
          <a:p>
            <a:r>
              <a:rPr lang="en-US" altLang="en-US"/>
              <a:t>JavaScript, particularly with Node.js, is a powerful choice for network programming,  especially for real-time applications. Node.js is event-driven and non-blocking, making it ideal  for handling multiple connections simultaneously. Node.js is widely used for building real-time  chat applications, streaming services, and APIs due to its scalability and efficiency.   </a:t>
            </a:r>
            <a:endParaRPr lang="en-US" altLang="en-US"/>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43205"/>
            <a:ext cx="10515600" cy="5934075"/>
          </a:xfrm>
        </p:spPr>
        <p:txBody>
          <a:bodyPr/>
          <a:p>
            <a:r>
              <a:rPr lang="en-US" altLang="en-US" sz="2000">
                <a:sym typeface="+mn-ea"/>
              </a:rPr>
              <a:t>C# is a powerful language for network programming, especially in Windows-based  environments. C# is widely used in enterprise applications, game development, and Windows based network applications due to its integration with the .NET framework and robust  libraries.</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9865"/>
            <a:ext cx="10515600" cy="1325563"/>
          </a:xfrm>
        </p:spPr>
        <p:txBody>
          <a:bodyPr/>
          <a:p>
            <a:r>
              <a:rPr lang="en-US"/>
              <a:t>Network Programming Tools </a:t>
            </a:r>
            <a:endParaRPr lang="en-US"/>
          </a:p>
        </p:txBody>
      </p:sp>
      <p:sp>
        <p:nvSpPr>
          <p:cNvPr id="3" name="Content Placeholder 2"/>
          <p:cNvSpPr>
            <a:spLocks noGrp="1"/>
          </p:cNvSpPr>
          <p:nvPr>
            <p:ph idx="1"/>
          </p:nvPr>
        </p:nvSpPr>
        <p:spPr>
          <a:xfrm>
            <a:off x="838200" y="1379220"/>
            <a:ext cx="10515600" cy="4798060"/>
          </a:xfrm>
        </p:spPr>
        <p:txBody>
          <a:bodyPr>
            <a:normAutofit/>
          </a:bodyPr>
          <a:p>
            <a:pPr marL="0" indent="0">
              <a:buNone/>
            </a:pPr>
            <a:r>
              <a:rPr lang="en-US" altLang="en-US" sz="2000" b="1"/>
              <a:t>1. Wireshark:</a:t>
            </a:r>
            <a:r>
              <a:rPr lang="en-US" altLang="en-US" sz="2000"/>
              <a:t> Wireshark is a network protocol analyzer that allows developers to capture  and inspect network traffic in real time. It is widely used for debugging network issues,  analyzing packets, and monitoring network performance.  </a:t>
            </a:r>
            <a:br>
              <a:rPr lang="en-US" altLang="en-US"/>
            </a:br>
            <a:endParaRPr lang="en-US" altLang="en-US"/>
          </a:p>
          <a:p>
            <a:endParaRPr lang="en-US" altLang="en-US"/>
          </a:p>
        </p:txBody>
      </p:sp>
      <p:pic>
        <p:nvPicPr>
          <p:cNvPr id="6" name="Picture 5" descr="wireshark"/>
          <p:cNvPicPr>
            <a:picLocks noChangeAspect="1"/>
          </p:cNvPicPr>
          <p:nvPr/>
        </p:nvPicPr>
        <p:blipFill>
          <a:blip r:embed="rId1"/>
          <a:stretch>
            <a:fillRect/>
          </a:stretch>
        </p:blipFill>
        <p:spPr>
          <a:xfrm>
            <a:off x="1673860" y="2285365"/>
            <a:ext cx="7818755" cy="4229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17855"/>
            <a:ext cx="10515600" cy="5559425"/>
          </a:xfrm>
        </p:spPr>
        <p:txBody>
          <a:bodyPr/>
          <a:p>
            <a:pPr marL="0" indent="0">
              <a:buNone/>
            </a:pPr>
            <a:r>
              <a:rPr lang="en-US" altLang="en-US" sz="2000"/>
              <a:t>Let’s say you are a network administrator, and some users in your office are complaining that a website takes too long to load. You can open Wireshark on your computer, start capturing network packets, and then visit that website. Wireshark will show all the packets being sent and received.</a:t>
            </a:r>
            <a:endParaRPr lang="en-US" altLang="en-US" sz="2000"/>
          </a:p>
          <a:p>
            <a:pPr marL="0" indent="0">
              <a:buNone/>
            </a:pPr>
            <a:r>
              <a:rPr lang="en-US" altLang="en-US" sz="2000"/>
              <a:t>You can see:</a:t>
            </a:r>
            <a:endParaRPr lang="en-US" altLang="en-US" sz="2000"/>
          </a:p>
          <a:p>
            <a:r>
              <a:rPr lang="en-US" altLang="en-US" sz="2000"/>
              <a:t>Which server the computer is connecting to.</a:t>
            </a:r>
            <a:endParaRPr lang="en-US" altLang="en-US" sz="2000"/>
          </a:p>
          <a:p>
            <a:r>
              <a:rPr lang="en-US" altLang="en-US" sz="2000"/>
              <a:t>How long each packet takes to travel.</a:t>
            </a:r>
            <a:endParaRPr lang="en-US" altLang="en-US" sz="2000"/>
          </a:p>
          <a:p>
            <a:r>
              <a:rPr lang="en-US" altLang="en-US" sz="2000"/>
              <a:t>Whether any packets are being lost or delayed.</a:t>
            </a:r>
            <a:endParaRPr lang="en-US" altLang="en-US" sz="2000"/>
          </a:p>
          <a:p>
            <a:pPr marL="0" indent="0">
              <a:buNone/>
            </a:pPr>
            <a:r>
              <a:rPr lang="en-US" altLang="en-US" sz="2000"/>
              <a:t>After analyzing this, you might find out that the delay is due to a DNS lookup problem or too many retries caused by a faulty router.</a:t>
            </a:r>
            <a:endParaRPr lang="en-US"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4200" y="534670"/>
            <a:ext cx="10913110" cy="5968365"/>
          </a:xfrm>
        </p:spPr>
        <p:txBody>
          <a:bodyPr>
            <a:normAutofit/>
          </a:bodyPr>
          <a:p>
            <a:pPr marL="0" indent="0">
              <a:buNone/>
            </a:pPr>
            <a:r>
              <a:rPr lang="en-US" altLang="en-US" sz="2000" b="1">
                <a:sym typeface="+mn-ea"/>
              </a:rPr>
              <a:t>2. Postman:</a:t>
            </a:r>
            <a:r>
              <a:rPr lang="en-US" altLang="en-US" sz="2000">
                <a:sym typeface="+mn-ea"/>
              </a:rPr>
              <a:t> Postman is a popular tool for API development and testing. It allows  developers to send HTTP requests, test APIs, and automate workflows. Postman is widely used for debugging RESTful APIs, documenting endpoints, and ensuring the  reliability of network applications. </a:t>
            </a:r>
            <a:endParaRPr lang="en-US" altLang="en-US" sz="2000"/>
          </a:p>
          <a:p>
            <a:pPr marL="0" indent="0">
              <a:buNone/>
            </a:pPr>
            <a:r>
              <a:rPr lang="en-US" altLang="en-US" sz="2000" b="1">
                <a:sym typeface="+mn-ea"/>
              </a:rPr>
              <a:t>3. Netcat:</a:t>
            </a:r>
            <a:r>
              <a:rPr lang="en-US" altLang="en-US" sz="2000">
                <a:sym typeface="+mn-ea"/>
              </a:rPr>
              <a:t> Netcat is one of the most powerful networking tools, security tools, and network monitoring tools. It is even considered a Swiss army knife of networking tools. It acts like a cat command over a network. It is generally used for the following reasons:</a:t>
            </a:r>
            <a:endParaRPr lang="en-US" altLang="en-US" sz="2000">
              <a:sym typeface="+mn-ea"/>
            </a:endParaRPr>
          </a:p>
          <a:p>
            <a:r>
              <a:rPr lang="en-US" altLang="en-US" sz="2000"/>
              <a:t>Operation related to TCP, UDP, or UNIX-domain sockets.</a:t>
            </a:r>
            <a:endParaRPr lang="en-US" altLang="en-US" sz="2000"/>
          </a:p>
          <a:p>
            <a:r>
              <a:rPr lang="en-US" altLang="en-US" sz="2000"/>
              <a:t>Port Scanning</a:t>
            </a:r>
            <a:endParaRPr lang="en-US" altLang="en-US" sz="2000"/>
          </a:p>
          <a:p>
            <a:r>
              <a:rPr lang="en-US" altLang="en-US" sz="2000"/>
              <a:t>Port Listening</a:t>
            </a:r>
            <a:endParaRPr lang="en-US" altLang="en-US" sz="2000"/>
          </a:p>
          <a:p>
            <a:r>
              <a:rPr lang="en-US" altLang="en-US" sz="2000"/>
              <a:t>Port redirection</a:t>
            </a:r>
            <a:endParaRPr lang="en-US" altLang="en-US" sz="2000"/>
          </a:p>
          <a:p>
            <a:r>
              <a:rPr lang="en-US" altLang="en-US" sz="2000"/>
              <a:t>open Remote connections</a:t>
            </a:r>
            <a:endParaRPr lang="en-US" altLang="en-US" sz="2000"/>
          </a:p>
          <a:p>
            <a:r>
              <a:rPr lang="en-US" altLang="en-US" sz="2000"/>
              <a:t>Read/Write data across the network.</a:t>
            </a:r>
            <a:endParaRPr lang="en-US" altLang="en-US" sz="2000"/>
          </a:p>
          <a:p>
            <a:r>
              <a:rPr lang="en-US" altLang="en-US" sz="2000"/>
              <a:t>Network debugging</a:t>
            </a:r>
            <a:endParaRPr lang="en-US" altLang="en-US" sz="2000"/>
          </a:p>
          <a:p>
            <a:r>
              <a:rPr lang="en-US" altLang="en-US" sz="2000"/>
              <a:t>Network daemon testing</a:t>
            </a:r>
            <a:endParaRPr lang="en-US" altLang="en-US" sz="2000"/>
          </a:p>
          <a:p>
            <a:r>
              <a:rPr lang="en-US" altLang="en-US" sz="2000"/>
              <a:t>Simple TCP proxies</a:t>
            </a:r>
            <a:endParaRPr lang="en-US" altLang="en-US" sz="2000"/>
          </a:p>
          <a:p>
            <a:r>
              <a:rPr lang="en-US" altLang="en-US" sz="2000"/>
              <a:t>A Socks or HTTP Proxy Command for ssh</a:t>
            </a:r>
            <a:endParaRPr lang="en-US" altLang="en-US" sz="2000"/>
          </a:p>
          <a:p>
            <a:pPr marL="0" indent="0">
              <a:buNone/>
            </a:pPr>
            <a:endParaRPr lang="en-US"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19100" y="357505"/>
            <a:ext cx="11353800" cy="6061710"/>
          </a:xfrm>
        </p:spPr>
        <p:txBody>
          <a:bodyPr>
            <a:normAutofit/>
          </a:bodyPr>
          <a:p>
            <a:pPr marL="0" indent="0">
              <a:buNone/>
            </a:pPr>
            <a:r>
              <a:rPr lang="en-US" altLang="en-US" sz="2000" b="1">
                <a:sym typeface="+mn-ea"/>
              </a:rPr>
              <a:t>4. Nmap:</a:t>
            </a:r>
            <a:r>
              <a:rPr lang="en-US" altLang="en-US" sz="2000">
                <a:sym typeface="+mn-ea"/>
              </a:rPr>
              <a:t> Nmap is a network discovery and security auditing tool. It is used to scan  networks, identify open ports, and detect vulnerabilities. Nmap is widely used by  network administrators and security professionals to assess network security and  troubleshoot network issues. </a:t>
            </a:r>
            <a:endParaRPr lang="en-US" altLang="en-US" sz="2000">
              <a:sym typeface="+mn-ea"/>
            </a:endParaRPr>
          </a:p>
          <a:p>
            <a:pPr marL="0" indent="0">
              <a:buNone/>
            </a:pPr>
            <a:r>
              <a:rPr lang="en-US" altLang="en-US" sz="2000"/>
              <a:t>Port Scanning is one of the features of Nmap wherein the tool detects the status of the ports on active hosts in a network. The status of the ports can be open, filtered, or closed. Type Nmap in the command line to run Nmap. Add necessary switches according to the scanning type to initiate a specific scan technique. </a:t>
            </a:r>
            <a:endParaRPr lang="en-US" altLang="en-US" sz="2000" b="1"/>
          </a:p>
          <a:p>
            <a:pPr marL="0" indent="0">
              <a:buNone/>
            </a:pPr>
            <a:r>
              <a:rPr lang="en-US" altLang="en-US" sz="2000" b="1"/>
              <a:t>Example: </a:t>
            </a:r>
            <a:r>
              <a:rPr lang="en-US" altLang="en-US" sz="2000"/>
              <a:t>nmap -sS 192.168.0.1-192.168.0.52  </a:t>
            </a:r>
            <a:endParaRPr lang="en-US" altLang="en-US" sz="2000"/>
          </a:p>
          <a:p>
            <a:pPr marL="0" indent="0">
              <a:buNone/>
            </a:pPr>
            <a:r>
              <a:rPr lang="en-US" altLang="en-US" sz="2000"/>
              <a:t>This command runs Nmap in TCP SYN scan type (-sS) and scans the given IP address range for active hosts and services.</a:t>
            </a:r>
            <a:endParaRPr lang="en-US" altLang="en-US" sz="2000"/>
          </a:p>
          <a:p>
            <a:pPr marL="0" indent="0">
              <a:buNone/>
            </a:pPr>
            <a:r>
              <a:rPr lang="en-US" altLang="en-US" sz="2000" b="1">
                <a:sym typeface="+mn-ea"/>
              </a:rPr>
              <a:t>5. cURL:</a:t>
            </a:r>
            <a:r>
              <a:rPr lang="en-US" altLang="en-US" sz="2000">
                <a:sym typeface="+mn-ea"/>
              </a:rPr>
              <a:t> cURL is a command-line tool for transferring data with URLs. It supports a wide  range of protocols, including HTTP, FTP, and SMTP. cURL is commonly used for testing  APIs, downloading files, and debugging network requests. Its simplicity and versatility  make it a favorite among developers. </a:t>
            </a:r>
            <a:endParaRPr lang="en-US" altLang="en-US" sz="2000">
              <a:sym typeface="+mn-ea"/>
            </a:endParaRPr>
          </a:p>
          <a:p>
            <a:pPr marL="0" indent="0">
              <a:buNone/>
            </a:pPr>
            <a:endParaRPr lang="en-US" altLang="en-US" sz="2000"/>
          </a:p>
          <a:p>
            <a:pPr marL="0" indent="0">
              <a:buNone/>
            </a:pPr>
            <a:r>
              <a:rPr lang="en-US" altLang="en-US" sz="2000" b="1">
                <a:sym typeface="+mn-ea"/>
              </a:rPr>
              <a:t>6. Telnet: </a:t>
            </a:r>
            <a:r>
              <a:rPr lang="en-US" altLang="en-US" sz="2000">
                <a:sym typeface="+mn-ea"/>
              </a:rPr>
              <a:t>Telnet is a protocol and tool used for remote login and communication. It is  often used to test network services and debug servers. While Telnet is not secure, it  remains a useful tool for troubleshooting and testing network connectivity. </a:t>
            </a:r>
            <a:endParaRPr lang="en-US" altLang="en-US" sz="2000">
              <a:sym typeface="+mn-ea"/>
            </a:endParaRPr>
          </a:p>
          <a:p>
            <a:pPr marL="0" indent="0">
              <a:buNone/>
            </a:pPr>
            <a:endParaRPr lang="en-US" altLang="en-US" sz="2000"/>
          </a:p>
          <a:p>
            <a:pPr marL="0" indent="0">
              <a:buNone/>
            </a:pP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Client and Server Application</a:t>
            </a:r>
            <a:endParaRPr lang="en-US"/>
          </a:p>
        </p:txBody>
      </p:sp>
      <p:pic>
        <p:nvPicPr>
          <p:cNvPr id="4" name="Content Placeholder 3"/>
          <p:cNvPicPr>
            <a:picLocks noChangeAspect="1"/>
          </p:cNvPicPr>
          <p:nvPr>
            <p:ph idx="1"/>
          </p:nvPr>
        </p:nvPicPr>
        <p:blipFill>
          <a:blip r:embed="rId1"/>
          <a:stretch>
            <a:fillRect/>
          </a:stretch>
        </p:blipFill>
        <p:spPr>
          <a:xfrm>
            <a:off x="838200" y="1515110"/>
            <a:ext cx="7538085" cy="43516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11125"/>
            <a:ext cx="10515600" cy="6376035"/>
          </a:xfrm>
        </p:spPr>
        <p:txBody>
          <a:bodyPr>
            <a:normAutofit fontScale="90000" lnSpcReduction="10000"/>
          </a:bodyPr>
          <a:p>
            <a:r>
              <a:rPr lang="en-US" altLang="en-US"/>
              <a:t>A client-server application is a software model where tasks are divided between clients (users or devices requesting services) and servers (machines or programs providing those services).</a:t>
            </a:r>
            <a:endParaRPr lang="en-US" altLang="en-US"/>
          </a:p>
          <a:p>
            <a:r>
              <a:rPr lang="en-US" altLang="en-US"/>
              <a:t>Example of client and server application </a:t>
            </a:r>
            <a:endParaRPr lang="en-US" altLang="en-US"/>
          </a:p>
          <a:p>
            <a:pPr marL="0" indent="0">
              <a:buNone/>
            </a:pPr>
            <a:r>
              <a:rPr lang="en-US" altLang="en-US"/>
              <a:t>try{</a:t>
            </a:r>
            <a:endParaRPr lang="en-US" altLang="en-US"/>
          </a:p>
          <a:p>
            <a:pPr marL="0" indent="457200">
              <a:buNone/>
            </a:pPr>
            <a:r>
              <a:rPr lang="en-US" altLang="en-US"/>
              <a:t>ServerSocket Sscoket=new ServerSocket(5000);</a:t>
            </a:r>
            <a:endParaRPr lang="en-US" altLang="en-US"/>
          </a:p>
          <a:p>
            <a:pPr marL="0" indent="457200">
              <a:buNone/>
            </a:pPr>
            <a:r>
              <a:rPr lang="en-US" altLang="en-US"/>
              <a:t>System.out.println(“Server is Running....., waiting for client connection”);</a:t>
            </a:r>
            <a:endParaRPr lang="en-US" altLang="en-US"/>
          </a:p>
          <a:p>
            <a:pPr marL="0" indent="457200">
              <a:buNone/>
            </a:pPr>
            <a:r>
              <a:rPr lang="en-US" altLang="en-US"/>
              <a:t>Socket socket=Sscoket.accept();</a:t>
            </a:r>
            <a:endParaRPr lang="en-US" altLang="en-US"/>
          </a:p>
          <a:p>
            <a:pPr marL="0" indent="457200">
              <a:buNone/>
            </a:pPr>
            <a:r>
              <a:rPr lang="en-US" altLang="en-US"/>
              <a:t>OutPutStream output=socket.getOutPutStream();</a:t>
            </a:r>
            <a:endParaRPr lang="en-US" altLang="en-US"/>
          </a:p>
          <a:p>
            <a:pPr marL="0" indent="457200">
              <a:buNone/>
            </a:pPr>
            <a:r>
              <a:rPr lang="en-US" altLang="en-US"/>
              <a:t>PrintWriter witer=new PrintWriter(output,true);</a:t>
            </a:r>
            <a:endParaRPr lang="en-US" altLang="en-US"/>
          </a:p>
          <a:p>
            <a:pPr marL="0" indent="457200">
              <a:buNone/>
            </a:pPr>
            <a:r>
              <a:rPr lang="en-US" altLang="en-US"/>
              <a:t>writer.println(“Hello client”);</a:t>
            </a:r>
            <a:endParaRPr lang="en-US" altLang="en-US"/>
          </a:p>
          <a:p>
            <a:pPr marL="0" indent="457200">
              <a:buNone/>
            </a:pPr>
            <a:r>
              <a:rPr lang="en-US" altLang="en-US"/>
              <a:t>}</a:t>
            </a:r>
            <a:endParaRPr lang="en-US" altLang="en-US"/>
          </a:p>
          <a:p>
            <a:pPr marL="0" indent="457200">
              <a:buNone/>
            </a:pPr>
            <a:r>
              <a:rPr lang="en-US" altLang="en-US"/>
              <a:t>catch(IoException ex)</a:t>
            </a:r>
            <a:endParaRPr lang="en-US" altLang="en-US"/>
          </a:p>
          <a:p>
            <a:pPr marL="0" indent="457200">
              <a:buNone/>
            </a:pPr>
            <a:r>
              <a:rPr lang="en-US" altLang="en-US"/>
              <a:t>{</a:t>
            </a:r>
            <a:endParaRPr lang="en-US" altLang="en-US"/>
          </a:p>
          <a:p>
            <a:pPr marL="0" indent="457200">
              <a:buNone/>
            </a:pPr>
            <a:r>
              <a:rPr lang="en-US" altLang="en-US"/>
              <a:t>System.out.println(ex);}</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21640"/>
            <a:ext cx="10515600" cy="5755640"/>
          </a:xfrm>
        </p:spPr>
        <p:txBody>
          <a:bodyPr/>
          <a:p>
            <a:r>
              <a:rPr lang="en-US"/>
              <a:t>client</a:t>
            </a:r>
            <a:endParaRPr lang="en-US"/>
          </a:p>
          <a:p>
            <a:pPr marL="0" indent="0">
              <a:buNone/>
            </a:pPr>
            <a:r>
              <a:rPr lang="en-US"/>
              <a:t>try{</a:t>
            </a:r>
            <a:endParaRPr lang="en-US"/>
          </a:p>
          <a:p>
            <a:pPr marL="0" indent="0">
              <a:buNone/>
            </a:pPr>
            <a:r>
              <a:rPr lang="en-US"/>
              <a:t>Socket socket =new Socket(“localhost”,5000);</a:t>
            </a:r>
            <a:endParaRPr lang="en-US"/>
          </a:p>
          <a:p>
            <a:pPr marL="0" indent="0">
              <a:buNone/>
            </a:pPr>
            <a:r>
              <a:rPr lang="en-US"/>
              <a:t>inputStream input=socket.getInputStream();</a:t>
            </a:r>
            <a:endParaRPr lang="en-US"/>
          </a:p>
          <a:p>
            <a:pPr marL="0" indent="0">
              <a:buNone/>
            </a:pPr>
            <a:r>
              <a:rPr lang="en-US"/>
              <a:t>BufferReader reader =new BufferReader(new InpurReaderStream(input));</a:t>
            </a:r>
            <a:endParaRPr lang="en-US"/>
          </a:p>
          <a:p>
            <a:pPr marL="0" indent="0">
              <a:buNone/>
            </a:pPr>
            <a:r>
              <a:rPr lang="en-US"/>
              <a:t>String message=reader.readline();</a:t>
            </a:r>
            <a:endParaRPr lang="en-US"/>
          </a:p>
          <a:p>
            <a:pPr marL="0" indent="0">
              <a:buNone/>
            </a:pPr>
            <a:r>
              <a:rPr lang="en-US"/>
              <a:t>System.out.println(message);</a:t>
            </a:r>
            <a:endParaRPr lang="en-US"/>
          </a:p>
          <a:p>
            <a:pPr marL="0" indent="0">
              <a:buNone/>
            </a:pPr>
            <a:endParaRPr lang="en-US"/>
          </a:p>
          <a:p>
            <a:pPr marL="0" indent="0">
              <a:buNone/>
            </a:pPr>
            <a:r>
              <a:rPr lang="en-US"/>
              <a:t>}catch(Exception ex){System.out.println(ex);</a:t>
            </a:r>
            <a:endParaRPr lang="en-US"/>
          </a:p>
          <a:p>
            <a:pPr marL="0" indent="0">
              <a:buNone/>
            </a:pPr>
            <a:r>
              <a:rPr lang="en-US"/>
              <a:t>}</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5420"/>
            <a:ext cx="10515600" cy="1325563"/>
          </a:xfrm>
        </p:spPr>
        <p:txBody>
          <a:bodyPr/>
          <a:p>
            <a:r>
              <a:rPr lang="en-US"/>
              <a:t>Advantage of Client and Server Application</a:t>
            </a:r>
            <a:endParaRPr lang="en-US"/>
          </a:p>
        </p:txBody>
      </p:sp>
      <p:sp>
        <p:nvSpPr>
          <p:cNvPr id="3" name="Content Placeholder 2"/>
          <p:cNvSpPr>
            <a:spLocks noGrp="1"/>
          </p:cNvSpPr>
          <p:nvPr>
            <p:ph idx="1"/>
          </p:nvPr>
        </p:nvSpPr>
        <p:spPr>
          <a:xfrm>
            <a:off x="478790" y="1270635"/>
            <a:ext cx="10875010" cy="5408295"/>
          </a:xfrm>
        </p:spPr>
        <p:txBody>
          <a:bodyPr>
            <a:normAutofit lnSpcReduction="20000"/>
          </a:bodyPr>
          <a:p>
            <a:pPr marL="0" indent="0">
              <a:buNone/>
            </a:pPr>
            <a:r>
              <a:rPr lang="en-US" sz="2000" b="1"/>
              <a:t>1). </a:t>
            </a:r>
            <a:r>
              <a:rPr lang="en-US" altLang="en-US" sz="2000" b="1"/>
              <a:t>Centralized Control</a:t>
            </a:r>
            <a:endParaRPr lang="en-US" altLang="en-US" sz="2000" b="1"/>
          </a:p>
          <a:p>
            <a:pPr marL="0" indent="0" algn="just">
              <a:buNone/>
            </a:pPr>
            <a:r>
              <a:rPr lang="en-US" altLang="en-US" sz="2000"/>
              <a:t>The fundamental benefit of a client-server network is that it allows for centralized management—all the information you can find in one place. Because the network administrator has complete control over management and administration, this is extremely advantageous. Any issue that arises throughout the whole network may be resolved in one location. It also becomes easier to upgrade data.</a:t>
            </a:r>
            <a:endParaRPr lang="en-US" altLang="en-US" sz="2000"/>
          </a:p>
          <a:p>
            <a:pPr marL="0" indent="0" algn="just">
              <a:buNone/>
            </a:pPr>
            <a:r>
              <a:rPr lang="en-US" altLang="en-US" sz="2000"/>
              <a:t>For example, if there is any problem or if an update is needed, it can be done directly on the server instead of changing it on every client computer. This makes management very simple and efficient.</a:t>
            </a:r>
            <a:endParaRPr lang="en-US" altLang="en-US" sz="2000"/>
          </a:p>
          <a:p>
            <a:pPr marL="0" indent="0" algn="just">
              <a:buNone/>
            </a:pPr>
            <a:r>
              <a:rPr lang="en-US" altLang="en-US" sz="2000" b="1"/>
              <a:t>2). Scalability:</a:t>
            </a:r>
            <a:r>
              <a:rPr lang="en-US" altLang="en-US" sz="2000"/>
              <a:t>  The system can be expanded easily by upgrading the central server to support more clients or heavier workloads without major changes to the overall network.</a:t>
            </a:r>
            <a:endParaRPr lang="en-US" altLang="en-US" sz="2000"/>
          </a:p>
          <a:p>
            <a:pPr marL="0" indent="0" algn="just">
              <a:buNone/>
            </a:pPr>
            <a:r>
              <a:rPr lang="en-US" altLang="en-US" sz="2000"/>
              <a:t>For instance, adding more memory or processing power to the server allows it to serve more clients without redesigning the whole system.</a:t>
            </a:r>
            <a:endParaRPr lang="en-US" altLang="en-US" sz="2000"/>
          </a:p>
          <a:p>
            <a:pPr marL="0" indent="0" algn="just">
              <a:buNone/>
            </a:pPr>
            <a:r>
              <a:rPr lang="en-US" altLang="en-US" sz="2000" b="1"/>
              <a:t>3).Enhanced security:</a:t>
            </a:r>
            <a:r>
              <a:rPr lang="en-US" altLang="en-US" sz="2000"/>
              <a:t> Security protocols like authentication and data encryption can be implemented more easily on a central server.</a:t>
            </a:r>
            <a:endParaRPr lang="en-US" altLang="en-US" sz="2000"/>
          </a:p>
          <a:p>
            <a:pPr marL="0" indent="0" algn="just">
              <a:buNone/>
            </a:pPr>
            <a:r>
              <a:rPr lang="en-US" altLang="en-US" sz="2000" b="1"/>
              <a:t>4). Accessibility:</a:t>
            </a:r>
            <a:r>
              <a:rPr lang="en-US" altLang="en-US" sz="2000"/>
              <a:t> Clients can access shared resources and services from any location, as long as they can connect to the server through the network or internet.</a:t>
            </a:r>
            <a:endParaRPr lang="en-US" alt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5420"/>
            <a:ext cx="10515600" cy="1325563"/>
          </a:xfrm>
        </p:spPr>
        <p:txBody>
          <a:bodyPr/>
          <a:p>
            <a:r>
              <a:rPr lang="en-US"/>
              <a:t>DisAdvantage of Client and Server Application</a:t>
            </a:r>
            <a:endParaRPr lang="en-US"/>
          </a:p>
        </p:txBody>
      </p:sp>
      <p:sp>
        <p:nvSpPr>
          <p:cNvPr id="3" name="Content Placeholder 2"/>
          <p:cNvSpPr>
            <a:spLocks noGrp="1"/>
          </p:cNvSpPr>
          <p:nvPr>
            <p:ph idx="1"/>
          </p:nvPr>
        </p:nvSpPr>
        <p:spPr>
          <a:xfrm>
            <a:off x="381000" y="1091565"/>
            <a:ext cx="10972800" cy="5591175"/>
          </a:xfrm>
        </p:spPr>
        <p:txBody>
          <a:bodyPr>
            <a:normAutofit/>
          </a:bodyPr>
          <a:p>
            <a:pPr marL="0" indent="0">
              <a:buNone/>
            </a:pPr>
            <a:r>
              <a:rPr lang="en-US" altLang="en-US" sz="2000" b="1"/>
              <a:t>1). Server Dependency: </a:t>
            </a:r>
            <a:endParaRPr lang="en-US" altLang="en-US" sz="2000"/>
          </a:p>
          <a:p>
            <a:r>
              <a:rPr lang="en-US" altLang="en-US" sz="2000"/>
              <a:t>If the server fails, the entire system or network may stop working.</a:t>
            </a:r>
            <a:endParaRPr lang="en-US" altLang="en-US" sz="2000"/>
          </a:p>
          <a:p>
            <a:r>
              <a:rPr lang="en-US" altLang="en-US" sz="2000"/>
              <a:t>All clients depend heavily on the server’s availability.</a:t>
            </a:r>
            <a:endParaRPr lang="en-US" altLang="en-US" sz="2000"/>
          </a:p>
          <a:p>
            <a:pPr marL="0" indent="0">
              <a:buNone/>
            </a:pPr>
            <a:r>
              <a:rPr lang="en-US" altLang="en-US" sz="2000"/>
              <a:t>For example, if the email server stops working, all users will be unable to send or receive emails until it is fixed.</a:t>
            </a:r>
            <a:endParaRPr lang="en-US" altLang="en-US" sz="2000"/>
          </a:p>
          <a:p>
            <a:pPr marL="0" indent="0">
              <a:buNone/>
            </a:pPr>
            <a:r>
              <a:rPr lang="en-US" altLang="en-US" sz="2000" b="1"/>
              <a:t>2). High Cost: </a:t>
            </a:r>
            <a:endParaRPr lang="en-US" altLang="en-US" sz="2000"/>
          </a:p>
          <a:p>
            <a:r>
              <a:rPr lang="en-US" altLang="en-US" sz="2000"/>
              <a:t>Setting up and maintaining a powerful server can be expensive.</a:t>
            </a:r>
            <a:endParaRPr lang="en-US" altLang="en-US" sz="2000"/>
          </a:p>
          <a:p>
            <a:r>
              <a:rPr lang="en-US" altLang="en-US" sz="2000"/>
              <a:t>A powerful computer (server) is required to handle many clients, and it also needs proper hardware, software, and technical staff for maintenance.</a:t>
            </a:r>
            <a:endParaRPr lang="en-US" altLang="en-US" sz="2000"/>
          </a:p>
          <a:p>
            <a:pPr marL="0" indent="0">
              <a:buNone/>
            </a:pPr>
            <a:r>
              <a:rPr lang="en-US" altLang="en-US" sz="2000" b="1"/>
              <a:t>3). Network Congestion:</a:t>
            </a:r>
            <a:r>
              <a:rPr lang="en-US" altLang="en-US" sz="2000"/>
              <a:t> When many clients send requests to the server at the same time, it can create heavy traffic on the network. This slows down the communication between clients and the server, reducing overall performance.</a:t>
            </a:r>
            <a:endParaRPr lang="en-US" altLang="en-US" sz="2000"/>
          </a:p>
          <a:p>
            <a:pPr marL="0" indent="0">
              <a:buNone/>
            </a:pPr>
            <a:r>
              <a:rPr lang="en-US" altLang="en-US" sz="2000" b="1"/>
              <a:t>4). Security Risks: </a:t>
            </a:r>
            <a:r>
              <a:rPr lang="en-US" altLang="en-US" sz="2000"/>
              <a:t>Since all important data is stored on a single server, it becomes a major target for hackers or malware attacks. If the server’s security is breached, the entire network’s data can be at risk.</a:t>
            </a:r>
            <a:endParaRPr lang="en-US" altLang="en-US" sz="2000"/>
          </a:p>
          <a:p>
            <a:pPr marL="0" indent="0">
              <a:buNone/>
            </a:pPr>
            <a:r>
              <a:rPr lang="en-US" altLang="en-US" sz="2000"/>
              <a:t>Therefore, strong security measures and regular updates are very important in a client–server system.</a:t>
            </a:r>
            <a:endParaRPr lang="en-US"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Network Programming Platform</a:t>
            </a:r>
            <a:endParaRPr lang="en-US"/>
          </a:p>
        </p:txBody>
      </p:sp>
      <p:sp>
        <p:nvSpPr>
          <p:cNvPr id="3" name="Content Placeholder 2"/>
          <p:cNvSpPr>
            <a:spLocks noGrp="1"/>
          </p:cNvSpPr>
          <p:nvPr>
            <p:ph idx="1"/>
          </p:nvPr>
        </p:nvSpPr>
        <p:spPr/>
        <p:txBody>
          <a:bodyPr/>
          <a:p>
            <a:pPr marL="514350" indent="-514350">
              <a:buAutoNum type="arabicPeriod"/>
            </a:pPr>
            <a:r>
              <a:rPr lang="en-US"/>
              <a:t>Linux</a:t>
            </a:r>
            <a:endParaRPr lang="en-US"/>
          </a:p>
          <a:p>
            <a:pPr marL="514350" indent="-514350">
              <a:buAutoNum type="arabicPeriod"/>
            </a:pPr>
            <a:r>
              <a:rPr lang="en-US"/>
              <a:t>Windows</a:t>
            </a:r>
            <a:endParaRPr lang="en-US"/>
          </a:p>
          <a:p>
            <a:pPr marL="514350" indent="-514350">
              <a:buAutoNum type="arabicPeriod"/>
            </a:pPr>
            <a:r>
              <a:rPr lang="en-US"/>
              <a:t>MacOs</a:t>
            </a:r>
            <a:endParaRPr lang="en-US"/>
          </a:p>
          <a:p>
            <a:pPr marL="514350" indent="-514350">
              <a:buAutoNum type="arabicPeriod"/>
            </a:pPr>
            <a:r>
              <a:rPr lang="en-US"/>
              <a:t>Cloud Platform</a:t>
            </a:r>
            <a:endParaRPr lang="en-US"/>
          </a:p>
          <a:p>
            <a:pPr marL="514350" indent="-514350">
              <a:buAutoNum type="arabicPeriod"/>
            </a:pPr>
            <a:r>
              <a:rPr lang="en-US"/>
              <a:t>Docker</a:t>
            </a:r>
            <a:endParaRPr lang="en-US"/>
          </a:p>
          <a:p>
            <a:pPr marL="0" indent="0">
              <a:buNone/>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50825"/>
            <a:ext cx="10515600" cy="1325563"/>
          </a:xfrm>
        </p:spPr>
        <p:txBody>
          <a:bodyPr/>
          <a:p>
            <a:r>
              <a:rPr lang="en-US"/>
              <a:t>Client-Server Model</a:t>
            </a:r>
            <a:endParaRPr lang="en-US"/>
          </a:p>
        </p:txBody>
      </p:sp>
      <p:sp>
        <p:nvSpPr>
          <p:cNvPr id="3" name="Content Placeholder 2"/>
          <p:cNvSpPr>
            <a:spLocks noGrp="1"/>
          </p:cNvSpPr>
          <p:nvPr>
            <p:ph idx="1"/>
          </p:nvPr>
        </p:nvSpPr>
        <p:spPr>
          <a:xfrm>
            <a:off x="368935" y="1253490"/>
            <a:ext cx="10515600" cy="5405755"/>
          </a:xfrm>
        </p:spPr>
        <p:txBody>
          <a:bodyPr/>
          <a:p>
            <a:r>
              <a:rPr lang="en-US" altLang="en-US" sz="2000"/>
              <a:t>The client-server model is a fundamental software design principle where a client (a user-facing application like a web browser) requests services from a server, which is a powerful, centralized system that processes requests, manages data, and provides resources.</a:t>
            </a:r>
            <a:endParaRPr lang="en-US" altLang="en-US" sz="2000"/>
          </a:p>
          <a:p>
            <a:endParaRPr lang="en-US" altLang="en-US" sz="2000"/>
          </a:p>
        </p:txBody>
      </p:sp>
      <p:pic>
        <p:nvPicPr>
          <p:cNvPr id="4" name="Picture 3"/>
          <p:cNvPicPr>
            <a:picLocks noChangeAspect="1"/>
          </p:cNvPicPr>
          <p:nvPr/>
        </p:nvPicPr>
        <p:blipFill>
          <a:blip r:embed="rId1"/>
          <a:stretch>
            <a:fillRect/>
          </a:stretch>
        </p:blipFill>
        <p:spPr>
          <a:xfrm>
            <a:off x="1845310" y="2413635"/>
            <a:ext cx="6845300" cy="41300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Design Considerations in client-server Software</a:t>
            </a:r>
            <a:endParaRPr lang="en-US"/>
          </a:p>
        </p:txBody>
      </p:sp>
      <p:sp>
        <p:nvSpPr>
          <p:cNvPr id="3" name="Content Placeholder 2"/>
          <p:cNvSpPr>
            <a:spLocks noGrp="1"/>
          </p:cNvSpPr>
          <p:nvPr>
            <p:ph idx="1"/>
          </p:nvPr>
        </p:nvSpPr>
        <p:spPr/>
        <p:txBody>
          <a:bodyPr>
            <a:normAutofit fontScale="90000" lnSpcReduction="20000"/>
          </a:bodyPr>
          <a:p>
            <a:pPr marL="0" indent="0">
              <a:buNone/>
            </a:pPr>
            <a:r>
              <a:rPr lang="en-US" altLang="en-US"/>
              <a:t>Client-server software design is a structured approach to developing applications where tasks  are divided between clients (user-facing applications) and servers (backend systems).</a:t>
            </a:r>
            <a:endParaRPr lang="en-US" altLang="en-US"/>
          </a:p>
          <a:p>
            <a:pPr marL="0" indent="0">
              <a:buNone/>
            </a:pPr>
            <a:r>
              <a:rPr lang="en-US"/>
              <a:t>when designing a client-server application, you must consider:</a:t>
            </a:r>
            <a:endParaRPr lang="en-US"/>
          </a:p>
          <a:p>
            <a:pPr marL="0" indent="0">
              <a:buNone/>
            </a:pPr>
            <a:r>
              <a:rPr lang="en-US" b="1"/>
              <a:t>1). Performance</a:t>
            </a:r>
            <a:endParaRPr lang="en-US" b="1"/>
          </a:p>
          <a:p>
            <a:pPr marL="0" indent="0">
              <a:buNone/>
            </a:pPr>
            <a:r>
              <a:rPr lang="en-US" altLang="en-US"/>
              <a:t>Performance refers to how fast and efficiently a client–server system processes requests and responds to clients.</a:t>
            </a:r>
            <a:endParaRPr lang="en-US" altLang="en-US"/>
          </a:p>
          <a:p>
            <a:pPr marL="0" indent="0">
              <a:buNone/>
            </a:pPr>
            <a:r>
              <a:rPr lang="en-US" altLang="en-US"/>
              <a:t>A well-designed system should balance the workload between the client and the server to prevent bottlenecks.</a:t>
            </a:r>
            <a:endParaRPr lang="en-US" altLang="en-US"/>
          </a:p>
          <a:p>
            <a:pPr marL="0" indent="0">
              <a:buNone/>
            </a:pPr>
            <a:r>
              <a:rPr lang="en-US" altLang="en-US"/>
              <a:t>Key Points:</a:t>
            </a:r>
            <a:endParaRPr lang="en-US" altLang="en-US"/>
          </a:p>
          <a:p>
            <a:r>
              <a:rPr lang="en-US"/>
              <a:t>Balance the workload between client and server</a:t>
            </a:r>
            <a:endParaRPr lang="en-US"/>
          </a:p>
          <a:p>
            <a:r>
              <a:rPr lang="en-US"/>
              <a:t>Use caching and load balancing for heavy traffic</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27685" y="427990"/>
            <a:ext cx="10826115" cy="5749290"/>
          </a:xfrm>
        </p:spPr>
        <p:txBody>
          <a:bodyPr>
            <a:normAutofit lnSpcReduction="20000"/>
          </a:bodyPr>
          <a:p>
            <a:pPr marL="0" indent="0">
              <a:buNone/>
            </a:pPr>
            <a:r>
              <a:rPr lang="en-US" b="1"/>
              <a:t>2). Security:</a:t>
            </a:r>
            <a:endParaRPr lang="en-US" b="1"/>
          </a:p>
          <a:p>
            <a:pPr marL="0" indent="0" algn="just">
              <a:buNone/>
            </a:pPr>
            <a:r>
              <a:rPr lang="en-US" altLang="en-US"/>
              <a:t>Security is one of the most critical design considerations in client–server applications.</a:t>
            </a:r>
            <a:endParaRPr lang="en-US" altLang="en-US"/>
          </a:p>
          <a:p>
            <a:pPr marL="0" indent="0" algn="just">
              <a:buNone/>
            </a:pPr>
            <a:r>
              <a:rPr lang="en-US" altLang="en-US"/>
              <a:t>It ensures that data and communication between client and server are protected from unauthorized access, attacks, and misuse.</a:t>
            </a:r>
            <a:endParaRPr lang="en-US" altLang="en-US"/>
          </a:p>
          <a:p>
            <a:pPr marL="0" indent="0" algn="just">
              <a:buNone/>
            </a:pPr>
            <a:r>
              <a:rPr lang="en-US" altLang="en-US" b="1"/>
              <a:t>3). Scalability:</a:t>
            </a:r>
            <a:endParaRPr lang="en-US" altLang="en-US" b="1"/>
          </a:p>
          <a:p>
            <a:pPr marL="0" indent="0" algn="just">
              <a:buNone/>
            </a:pPr>
            <a:r>
              <a:rPr lang="en-US" altLang="en-US"/>
              <a:t>Scalability refers to the ability of the system to handle an increasing number of users, data, or transactions without affecting performance.</a:t>
            </a:r>
            <a:endParaRPr lang="en-US" altLang="en-US"/>
          </a:p>
          <a:p>
            <a:pPr marL="0" indent="0" algn="just">
              <a:buNone/>
            </a:pPr>
            <a:r>
              <a:rPr lang="en-US" altLang="en-US"/>
              <a:t>A scalable system can grow easily as the demand increases.</a:t>
            </a:r>
            <a:endParaRPr lang="en-US" altLang="en-US"/>
          </a:p>
          <a:p>
            <a:pPr marL="0" indent="0" algn="just">
              <a:buNone/>
            </a:pPr>
            <a:r>
              <a:rPr lang="en-US" altLang="en-US" b="1"/>
              <a:t>4). Reliability:</a:t>
            </a:r>
            <a:endParaRPr lang="en-US" altLang="en-US" b="1"/>
          </a:p>
          <a:p>
            <a:pPr marL="0" indent="0" algn="just">
              <a:buNone/>
            </a:pPr>
            <a:r>
              <a:rPr lang="en-US" altLang="en-US"/>
              <a:t>Reliability ensures that the system continues to function correctly even when parts of it fail.</a:t>
            </a:r>
            <a:endParaRPr lang="en-US" altLang="en-US"/>
          </a:p>
          <a:p>
            <a:pPr marL="0" indent="0" algn="just">
              <a:buNone/>
            </a:pPr>
            <a:r>
              <a:rPr lang="en-US" altLang="en-US"/>
              <a:t>A reliable client–server application should be able to detect errors, recover from failures, and maintain continuous service.</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45465"/>
            <a:ext cx="10515600" cy="5631815"/>
          </a:xfrm>
        </p:spPr>
        <p:txBody>
          <a:bodyPr/>
          <a:p>
            <a:pPr marL="0" indent="0">
              <a:buNone/>
            </a:pPr>
            <a:r>
              <a:rPr lang="en-US" b="1"/>
              <a:t>5). Maintainability</a:t>
            </a:r>
            <a:endParaRPr lang="en-US" b="1"/>
          </a:p>
          <a:p>
            <a:pPr marL="0" indent="0">
              <a:buNone/>
            </a:pPr>
            <a:r>
              <a:rPr lang="en-US" altLang="en-US"/>
              <a:t>Maintainability means how easily a system can be updated, debugged, or improved after deployment.</a:t>
            </a:r>
            <a:endParaRPr lang="en-US" altLang="en-US"/>
          </a:p>
          <a:p>
            <a:pPr marL="0" indent="0">
              <a:buNone/>
            </a:pPr>
            <a:r>
              <a:rPr lang="en-US" altLang="en-US"/>
              <a:t>A maintainable system is easier to extend, test, and manage over time.</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16222</Words>
  <Application>WPS Presentation</Application>
  <PresentationFormat>Widescreen</PresentationFormat>
  <Paragraphs>217</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Arial</vt:lpstr>
      <vt:lpstr>SimSun</vt:lpstr>
      <vt:lpstr>Wingdings</vt:lpstr>
      <vt:lpstr>Calibri Light</vt:lpstr>
      <vt:lpstr>Microsoft YaHei</vt:lpstr>
      <vt:lpstr>Arial Unicode MS</vt:lpstr>
      <vt:lpstr>Calibri</vt:lpstr>
      <vt:lpstr>Office Theme</vt:lpstr>
      <vt:lpstr>Network Programing </vt:lpstr>
      <vt:lpstr>Introduction:</vt:lpstr>
      <vt:lpstr>PowerPoint 演示文稿</vt:lpstr>
      <vt:lpstr>PowerPoint 演示文稿</vt:lpstr>
      <vt:lpstr>Features of Network Programming</vt:lpstr>
      <vt:lpstr>PowerPoint 演示文稿</vt:lpstr>
      <vt:lpstr>PowerPoint 演示文稿</vt:lpstr>
      <vt:lpstr>PowerPoint 演示文稿</vt:lpstr>
      <vt:lpstr>Scope of Network Programming</vt:lpstr>
      <vt:lpstr>PowerPoint 演示文稿</vt:lpstr>
      <vt:lpstr>Common Language for Network Programming </vt:lpstr>
      <vt:lpstr>PowerPoint 演示文稿</vt:lpstr>
      <vt:lpstr>Network Programming Tools </vt:lpstr>
      <vt:lpstr>PowerPoint 演示文稿</vt:lpstr>
      <vt:lpstr>PowerPoint 演示文稿</vt:lpstr>
      <vt:lpstr>PowerPoint 演示文稿</vt:lpstr>
      <vt:lpstr>Client and Server Application</vt:lpstr>
      <vt:lpstr>PowerPoint 演示文稿</vt:lpstr>
      <vt:lpstr>PowerPoint 演示文稿</vt:lpstr>
      <vt:lpstr>Advantage of Client and Server Application</vt:lpstr>
      <vt:lpstr>DisAdvantage of Client and Server Application</vt:lpstr>
      <vt:lpstr>Network Programming Platform</vt:lpstr>
      <vt:lpstr>Client-Server Model</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Pappu jaiswal</dc:creator>
  <cp:lastModifiedBy>Pappu Jaiswal</cp:lastModifiedBy>
  <cp:revision>96</cp:revision>
  <dcterms:created xsi:type="dcterms:W3CDTF">2025-07-23T00:59:00Z</dcterms:created>
  <dcterms:modified xsi:type="dcterms:W3CDTF">2025-11-12T00:30:49Z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99B7167BEFB14B348E87D37BEEEE4D5B_11</vt:lpwstr>
  </property>
  <property fmtid="{D5CDD505-2E9C-101B-9397-08002B2CF9AE}" pid="3" name="KSOProductBuildVer">
    <vt:lpwstr>1033-12.2.0.22549</vt:lpwstr>
  </property>
</Properties>
</file>