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59" r:id="rId6"/>
    <p:sldId id="260" r:id="rId7"/>
    <p:sldId id="261" r:id="rId8"/>
    <p:sldId id="262" r:id="rId9"/>
    <p:sldId id="268" r:id="rId10"/>
    <p:sldId id="263" r:id="rId11"/>
    <p:sldId id="264" r:id="rId12"/>
    <p:sldId id="265" r:id="rId13"/>
    <p:sldId id="266" r:id="rId14"/>
    <p:sldId id="267"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24"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showGuides="1">
      <p:cViewPr varScale="1">
        <p:scale>
          <a:sx n="53" d="100"/>
          <a:sy n="53" d="100"/>
        </p:scale>
        <p:origin x="180" y="54"/>
      </p:cViewPr>
      <p:guideLst>
        <p:guide orient="horz" pos="2124"/>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8" Type="http://schemas.openxmlformats.org/officeDocument/2006/relationships/tableStyles" Target="tableStyles.xml"/><Relationship Id="rId37" Type="http://schemas.openxmlformats.org/officeDocument/2006/relationships/viewProps" Target="viewProps.xml"/><Relationship Id="rId36" Type="http://schemas.openxmlformats.org/officeDocument/2006/relationships/presProps" Target="presProps.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a:xfrm>
            <a:off x="1524000" y="1122680"/>
            <a:ext cx="9144000" cy="1186180"/>
          </a:xfrm>
        </p:spPr>
        <p:txBody>
          <a:bodyPr/>
          <a:p>
            <a:r>
              <a:rPr lang="en-US"/>
              <a:t>URLs and Uris</a:t>
            </a:r>
            <a:endParaRPr lang="en-US"/>
          </a:p>
        </p:txBody>
      </p:sp>
      <p:sp>
        <p:nvSpPr>
          <p:cNvPr id="3" name="Subtitle 2"/>
          <p:cNvSpPr>
            <a:spLocks noGrp="1"/>
          </p:cNvSpPr>
          <p:nvPr>
            <p:ph type="subTitle" idx="1"/>
          </p:nvPr>
        </p:nvSpPr>
        <p:spPr>
          <a:xfrm>
            <a:off x="1524000" y="2308860"/>
            <a:ext cx="9144000" cy="3593465"/>
          </a:xfrm>
        </p:spPr>
        <p:txBody>
          <a:bodyPr>
            <a:normAutofit lnSpcReduction="10000"/>
          </a:bodyPr>
          <a:p>
            <a:pPr marL="342900" indent="-342900" algn="l">
              <a:buFont typeface="Arial" panose="020B0604020202020204" pitchFamily="34" charset="0"/>
              <a:buChar char="•"/>
            </a:pPr>
            <a:r>
              <a:rPr lang="en-US" sz="2000"/>
              <a:t>URLs: URLs and relative URLs</a:t>
            </a:r>
            <a:endParaRPr lang="en-US" sz="2000"/>
          </a:p>
          <a:p>
            <a:pPr marL="342900" indent="-342900" algn="l">
              <a:buFont typeface="Arial" panose="020B0604020202020204" pitchFamily="34" charset="0"/>
              <a:buChar char="•"/>
            </a:pPr>
            <a:r>
              <a:rPr lang="en-US" sz="2000"/>
              <a:t>The url class: Creating new urls, Retrieving Data from a URL, Splitting a URL into pieces, Equality &amp; Comparison and Conversion</a:t>
            </a:r>
            <a:endParaRPr lang="en-US" sz="2000"/>
          </a:p>
          <a:p>
            <a:pPr marL="342900" indent="-342900" algn="l">
              <a:buFont typeface="Arial" panose="020B0604020202020204" pitchFamily="34" charset="0"/>
              <a:buChar char="•"/>
            </a:pPr>
            <a:r>
              <a:rPr lang="en-US" sz="2000"/>
              <a:t>The URI Class: cinstructing a URI, The parts of the URI, resolving relative URIS, Equality &amp; Comparision and string representation</a:t>
            </a:r>
            <a:endParaRPr lang="en-US" sz="2000"/>
          </a:p>
          <a:p>
            <a:pPr marL="342900" indent="-342900" algn="l">
              <a:buFont typeface="Arial" panose="020B0604020202020204" pitchFamily="34" charset="0"/>
              <a:buChar char="•"/>
            </a:pPr>
            <a:r>
              <a:rPr lang="en-US" sz="2000"/>
              <a:t>x-www-form-urlEncoded: URL Encoder and URL Decoder</a:t>
            </a:r>
            <a:endParaRPr lang="en-US" sz="2000"/>
          </a:p>
          <a:p>
            <a:pPr marL="342900" indent="-342900" algn="l">
              <a:buFont typeface="Arial" panose="020B0604020202020204" pitchFamily="34" charset="0"/>
              <a:buChar char="•"/>
            </a:pPr>
            <a:r>
              <a:rPr lang="en-US" sz="2000"/>
              <a:t>Proxies: System Properties, the proxyClass and the ProxySelector Class</a:t>
            </a:r>
            <a:endParaRPr lang="en-US" sz="2000"/>
          </a:p>
          <a:p>
            <a:pPr marL="342900" indent="-342900" algn="l">
              <a:buFont typeface="Arial" panose="020B0604020202020204" pitchFamily="34" charset="0"/>
              <a:buChar char="•"/>
            </a:pPr>
            <a:r>
              <a:rPr lang="en-US" sz="2000"/>
              <a:t>Communicating with server-side programs through get</a:t>
            </a:r>
            <a:endParaRPr lang="en-US" sz="2000"/>
          </a:p>
          <a:p>
            <a:pPr marL="342900" indent="-342900" algn="l">
              <a:buFont typeface="Arial" panose="020B0604020202020204" pitchFamily="34" charset="0"/>
              <a:buChar char="•"/>
            </a:pPr>
            <a:r>
              <a:rPr lang="en-US" sz="2000"/>
              <a:t>Accessing Password-protected sites: the authenticatorClass, the password authentication class and JpasswordField Class</a:t>
            </a:r>
            <a:endParaRPr lang="en-US" sz="2000"/>
          </a:p>
          <a:p>
            <a:pPr marL="342900" indent="-342900" algn="l">
              <a:buFont typeface="Arial" panose="020B0604020202020204" pitchFamily="34" charset="0"/>
              <a:buChar char="•"/>
            </a:pPr>
            <a:endParaRPr lang="en-US" sz="20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Introduct of URL</a:t>
            </a:r>
            <a:endParaRPr lang="en-US"/>
          </a:p>
        </p:txBody>
      </p:sp>
      <p:sp>
        <p:nvSpPr>
          <p:cNvPr id="3" name="Content Placeholder 2"/>
          <p:cNvSpPr>
            <a:spLocks noGrp="1"/>
          </p:cNvSpPr>
          <p:nvPr>
            <p:ph idx="1"/>
          </p:nvPr>
        </p:nvSpPr>
        <p:spPr/>
        <p:txBody>
          <a:bodyPr/>
          <a:p>
            <a:pPr algn="just"/>
            <a:r>
              <a:rPr lang="en-US" altLang="en-US" sz="2000"/>
              <a:t>A URL, or Uniform Resource Locator, is the address used to find a specific resource on the internet, such as a webpage, image, or file. It tells a web browser exactly where to go to retrieve the requested information, much like a street address guides you to a physical location. URLs are entered into a browser's address bar or clicked via hyperlinks to navigate to their destination. </a:t>
            </a:r>
            <a:endParaRPr lang="en-US" altLang="en-US" sz="2000"/>
          </a:p>
          <a:p>
            <a:pPr algn="just"/>
            <a:r>
              <a:rPr lang="en-US" altLang="en-US" sz="2000"/>
              <a:t>Example :https://www.example.com/index.html</a:t>
            </a:r>
            <a:endParaRPr lang="en-US" altLang="en-US" sz="2000"/>
          </a:p>
          <a:p>
            <a:pPr algn="just"/>
            <a:r>
              <a:rPr lang="en-US" altLang="en-US" sz="2000"/>
              <a:t>A URL has two main Components:</a:t>
            </a:r>
            <a:endParaRPr lang="en-US" altLang="en-US" sz="2000"/>
          </a:p>
          <a:p>
            <a:pPr marL="0" indent="0" algn="just">
              <a:buNone/>
            </a:pPr>
            <a:r>
              <a:rPr lang="en-US" altLang="en-US" sz="2000"/>
              <a:t>Protocol Identifier: For The URL https://Example.com, the protocol identifier is http.</a:t>
            </a:r>
            <a:endParaRPr lang="en-US" altLang="en-US" sz="2000"/>
          </a:p>
          <a:p>
            <a:pPr marL="0" indent="0" algn="just">
              <a:buNone/>
            </a:pPr>
            <a:r>
              <a:rPr lang="en-US" altLang="en-US" sz="2000"/>
              <a:t> Resource name: for the URL https://Example.com, the resource name is example.com</a:t>
            </a:r>
            <a:endParaRPr lang="en-US" altLang="en-US" sz="2000"/>
          </a:p>
          <a:p>
            <a:pPr algn="just"/>
            <a:endParaRPr lang="en-US" altLang="en-US" sz="2000"/>
          </a:p>
          <a:p>
            <a:pPr algn="just"/>
            <a:endParaRPr lang="en-US" altLang="en-US" sz="20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t>Structure of a URL</a:t>
            </a:r>
            <a:endParaRPr lang="en-US" altLang="en-US"/>
          </a:p>
        </p:txBody>
      </p:sp>
      <p:sp>
        <p:nvSpPr>
          <p:cNvPr id="3" name="Content Placeholder 2"/>
          <p:cNvSpPr>
            <a:spLocks noGrp="1"/>
          </p:cNvSpPr>
          <p:nvPr>
            <p:ph idx="1"/>
          </p:nvPr>
        </p:nvSpPr>
        <p:spPr/>
        <p:txBody>
          <a:bodyPr/>
          <a:p>
            <a:r>
              <a:rPr lang="en-US" altLang="en-US" sz="2000"/>
              <a:t>A URL starts with a protocol followed by the name of the resource that has to be accessed. URL uses the protocols as the primary access medium to access the domain or subdomain specified after that wherever the resource is located. It uses multiple protocols like HTTP (Hypertext Transfer Protocol), HTTPS Protocol (Secured HTTP), mailto for emails, FTP (File Transfer Protocol) for files, and TELNET to access remote computers. Mostly the protocol names are specified using the colons and the double forward slashes, but the mailto protocol is specified using the colons only.</a:t>
            </a:r>
            <a:endParaRPr lang="en-US" altLang="en-US" sz="2000"/>
          </a:p>
        </p:txBody>
      </p:sp>
      <p:pic>
        <p:nvPicPr>
          <p:cNvPr id="4" name="Picture 3"/>
          <p:cNvPicPr>
            <a:picLocks noChangeAspect="1"/>
          </p:cNvPicPr>
          <p:nvPr/>
        </p:nvPicPr>
        <p:blipFill>
          <a:blip r:embed="rId1"/>
          <a:stretch>
            <a:fillRect/>
          </a:stretch>
        </p:blipFill>
        <p:spPr>
          <a:xfrm>
            <a:off x="2247900" y="3596005"/>
            <a:ext cx="6553200" cy="258127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Content Placeholder 3"/>
          <p:cNvPicPr>
            <a:picLocks noChangeAspect="1"/>
          </p:cNvPicPr>
          <p:nvPr>
            <p:ph idx="1"/>
          </p:nvPr>
        </p:nvPicPr>
        <p:blipFill>
          <a:blip r:embed="rId1"/>
          <a:stretch>
            <a:fillRect/>
          </a:stretch>
        </p:blipFill>
        <p:spPr>
          <a:xfrm>
            <a:off x="1637665" y="1033145"/>
            <a:ext cx="9296400" cy="35623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Relative URL</a:t>
            </a:r>
            <a:endParaRPr lang="en-US"/>
          </a:p>
        </p:txBody>
      </p:sp>
      <p:sp>
        <p:nvSpPr>
          <p:cNvPr id="3" name="Content Placeholder 2"/>
          <p:cNvSpPr>
            <a:spLocks noGrp="1"/>
          </p:cNvSpPr>
          <p:nvPr>
            <p:ph idx="1"/>
          </p:nvPr>
        </p:nvSpPr>
        <p:spPr/>
        <p:txBody>
          <a:bodyPr/>
          <a:p>
            <a:r>
              <a:rPr lang="en-US" altLang="en-US" sz="2000"/>
              <a:t>A relative URL is a partial web address that contains only the path to a page or resource on the same website, without the full domain name or scheme like "http://". It's a shortcut for linking between pages on a site, as the browser automatically uses the current page's domain to complete the path. </a:t>
            </a:r>
            <a:endParaRPr lang="en-US" altLang="en-US" sz="2000"/>
          </a:p>
          <a:p>
            <a:r>
              <a:rPr lang="en-US" altLang="en-US" sz="2000"/>
              <a:t>For example, if the page</a:t>
            </a:r>
            <a:endParaRPr lang="en-US" altLang="en-US" sz="2000"/>
          </a:p>
          <a:p>
            <a:pPr marL="0" indent="0">
              <a:buNone/>
            </a:pPr>
            <a:r>
              <a:rPr lang="en-US" altLang="en-US" sz="2000"/>
              <a:t>https://ahrefs.com/seo/glossary/relative-url/ (with a trailing slash, it’s important) contained the following code:  &lt;a href="best-practices"&gt;best practices&lt;/a&gt;</a:t>
            </a:r>
            <a:endParaRPr lang="en-US" altLang="en-US" sz="2000"/>
          </a:p>
          <a:p>
            <a:r>
              <a:rPr lang="en-US" altLang="en-US" sz="2000"/>
              <a:t>In your java programs, you can create a url object from a relative URL specification. for example, suppose you know two URLs at the site example.com</a:t>
            </a:r>
            <a:endParaRPr lang="en-US" altLang="en-US" sz="2000"/>
          </a:p>
          <a:p>
            <a:pPr marL="0" indent="457200">
              <a:buNone/>
            </a:pPr>
            <a:r>
              <a:rPr lang="en-US" altLang="en-US" sz="2000"/>
              <a:t>http:// Example.com/page/page1.html</a:t>
            </a:r>
            <a:endParaRPr lang="en-US" altLang="en-US" sz="2000"/>
          </a:p>
          <a:p>
            <a:pPr marL="0" indent="457200">
              <a:buNone/>
            </a:pPr>
            <a:r>
              <a:rPr lang="en-US" altLang="en-US" sz="2000"/>
              <a:t>http://Example.com/page/page2.html</a:t>
            </a:r>
            <a:endParaRPr lang="en-US" altLang="en-US" sz="20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838200" y="624205"/>
            <a:ext cx="10515600" cy="5553075"/>
          </a:xfrm>
        </p:spPr>
        <p:txBody>
          <a:bodyPr/>
          <a:p>
            <a:r>
              <a:rPr lang="en-US" sz="2000"/>
              <a:t>You can create URL objects for these pages relative to their common base URL http://example.com/pages/ like this</a:t>
            </a:r>
            <a:endParaRPr lang="en-US" sz="2000"/>
          </a:p>
          <a:p>
            <a:pPr marL="0" indent="457200">
              <a:buNone/>
            </a:pPr>
            <a:r>
              <a:rPr lang="en-US" sz="2000"/>
              <a:t>URL myURL=new URL(“http://example.com/pages/”);</a:t>
            </a:r>
            <a:endParaRPr lang="en-US" sz="2000"/>
          </a:p>
          <a:p>
            <a:pPr marL="0" indent="457200">
              <a:buNone/>
            </a:pPr>
            <a:r>
              <a:rPr lang="en-US" sz="2000"/>
              <a:t>URL page1=new URL(myURL, “page1.html”);</a:t>
            </a:r>
            <a:endParaRPr lang="en-US" sz="2000"/>
          </a:p>
          <a:p>
            <a:pPr marL="0" indent="457200">
              <a:buNone/>
            </a:pPr>
            <a:r>
              <a:rPr lang="en-US" sz="2000"/>
              <a:t>URL page2=new URL(myURL, “page2.html”);</a:t>
            </a:r>
            <a:endParaRPr lang="en-US" sz="2000"/>
          </a:p>
          <a:p>
            <a:pPr marL="342900" indent="-342900"/>
            <a:r>
              <a:rPr lang="en-US" sz="2000"/>
              <a:t>This code Snippet uses the URL Constructor that lets you create a URL object from another URL object(the base) and a relative URL specification. The general form of this constructor is:</a:t>
            </a:r>
            <a:endParaRPr lang="en-US" sz="2000"/>
          </a:p>
          <a:p>
            <a:pPr marL="457200" lvl="1" indent="0">
              <a:buNone/>
            </a:pPr>
            <a:r>
              <a:rPr lang="en-US" sz="1710" b="1"/>
              <a:t>URL (URL baseURL, String relativeURL);</a:t>
            </a:r>
            <a:endParaRPr lang="en-US" sz="1710" b="1"/>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The URL Class</a:t>
            </a:r>
            <a:endParaRPr lang="en-US"/>
          </a:p>
        </p:txBody>
      </p:sp>
      <p:sp>
        <p:nvSpPr>
          <p:cNvPr id="3" name="Content Placeholder 2"/>
          <p:cNvSpPr>
            <a:spLocks noGrp="1"/>
          </p:cNvSpPr>
          <p:nvPr>
            <p:ph idx="1"/>
          </p:nvPr>
        </p:nvSpPr>
        <p:spPr/>
        <p:txBody>
          <a:bodyPr/>
          <a:p>
            <a:r>
              <a:rPr lang="en-US" altLang="en-US" sz="2000"/>
              <a:t>URL class in Java is a part of java.net package that makes it easy to work with Uniform Resource Locators (URLs).</a:t>
            </a:r>
            <a:endParaRPr lang="en-US" altLang="en-US" sz="2000"/>
          </a:p>
          <a:p>
            <a:r>
              <a:rPr lang="en-US" altLang="en-US" sz="2000"/>
              <a:t>The URL class in Java is a fundamental component for accessing resources on the internet</a:t>
            </a:r>
            <a:endParaRPr lang="en-US" altLang="en-US" sz="2000"/>
          </a:p>
          <a:p>
            <a:r>
              <a:rPr lang="en-US" altLang="en-US" sz="2000"/>
              <a:t>The URL can point to various types of resources such as static files, dynamic content, API's.</a:t>
            </a:r>
            <a:endParaRPr lang="en-US" altLang="en-US" sz="2000"/>
          </a:p>
          <a:p>
            <a:r>
              <a:rPr lang="en-US" altLang="en-US" sz="2000"/>
              <a:t>The URL class provides constructors and methods to create URL objects and retrieve their components.</a:t>
            </a:r>
            <a:endParaRPr lang="en-US" altLang="en-US" sz="20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sym typeface="+mn-ea"/>
              </a:rPr>
              <a:t>Components of a URL</a:t>
            </a:r>
            <a:endParaRPr lang="en-US"/>
          </a:p>
        </p:txBody>
      </p:sp>
      <p:sp>
        <p:nvSpPr>
          <p:cNvPr id="3" name="Content Placeholder 2"/>
          <p:cNvSpPr>
            <a:spLocks noGrp="1"/>
          </p:cNvSpPr>
          <p:nvPr>
            <p:ph idx="1"/>
          </p:nvPr>
        </p:nvSpPr>
        <p:spPr/>
        <p:txBody>
          <a:bodyPr>
            <a:normAutofit/>
          </a:bodyPr>
          <a:p>
            <a:pPr marL="0" indent="0">
              <a:buNone/>
            </a:pPr>
            <a:r>
              <a:rPr lang="en-US" altLang="en-US" sz="2000"/>
              <a:t>A URL can have many forms. The most general however follows a three-component system as proposed below:</a:t>
            </a:r>
            <a:endParaRPr lang="en-US" altLang="en-US" sz="2000"/>
          </a:p>
          <a:p>
            <a:pPr marL="0" indent="0">
              <a:buNone/>
            </a:pPr>
            <a:endParaRPr lang="en-US" altLang="en-US" sz="2000"/>
          </a:p>
          <a:p>
            <a:endParaRPr lang="en-US" altLang="en-US" sz="2000"/>
          </a:p>
          <a:p>
            <a:endParaRPr lang="en-US" altLang="en-US" sz="2000"/>
          </a:p>
          <a:p>
            <a:pPr marL="0" indent="0">
              <a:buNone/>
            </a:pPr>
            <a:endParaRPr lang="en-US" altLang="en-US" sz="2000"/>
          </a:p>
          <a:p>
            <a:r>
              <a:rPr lang="en-US" altLang="en-US" sz="2000" b="1"/>
              <a:t>Protocol</a:t>
            </a:r>
            <a:r>
              <a:rPr lang="en-US" altLang="en-US" sz="2000"/>
              <a:t>: "http" is the protocol here.</a:t>
            </a:r>
            <a:endParaRPr lang="en-US" altLang="en-US" sz="2000"/>
          </a:p>
          <a:p>
            <a:r>
              <a:rPr lang="en-US" altLang="en-US" sz="2000" b="1"/>
              <a:t>Host Machine</a:t>
            </a:r>
            <a:r>
              <a:rPr lang="en-US" altLang="en-US" sz="2000"/>
              <a:t>: Name of the machine on which the resource lives (www.geeksforgeeks.org)</a:t>
            </a:r>
            <a:endParaRPr lang="en-US" altLang="en-US" sz="2000"/>
          </a:p>
          <a:p>
            <a:r>
              <a:rPr lang="en-US" altLang="en-US" sz="2000" b="1"/>
              <a:t>File Name</a:t>
            </a:r>
            <a:r>
              <a:rPr lang="en-US" altLang="en-US" sz="2000"/>
              <a:t>: The pathname to the file on the machine.</a:t>
            </a:r>
            <a:endParaRPr lang="en-US" altLang="en-US" sz="2000"/>
          </a:p>
          <a:p>
            <a:r>
              <a:rPr lang="en-US" altLang="en-US" sz="2000" b="1"/>
              <a:t>Port Number</a:t>
            </a:r>
            <a:r>
              <a:rPr lang="en-US" altLang="en-US" sz="2000"/>
              <a:t>: Port number to which to connect (typically optional).</a:t>
            </a:r>
            <a:endParaRPr lang="en-US" altLang="en-US" sz="2000"/>
          </a:p>
        </p:txBody>
      </p:sp>
      <p:pic>
        <p:nvPicPr>
          <p:cNvPr id="4" name="Picture 3"/>
          <p:cNvPicPr>
            <a:picLocks noChangeAspect="1"/>
          </p:cNvPicPr>
          <p:nvPr/>
        </p:nvPicPr>
        <p:blipFill>
          <a:blip r:embed="rId1"/>
          <a:stretch>
            <a:fillRect/>
          </a:stretch>
        </p:blipFill>
        <p:spPr>
          <a:xfrm>
            <a:off x="1510030" y="2543175"/>
            <a:ext cx="7488555" cy="145923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t>Constructors of URL class</a:t>
            </a:r>
            <a:endParaRPr lang="en-US" altLang="en-US"/>
          </a:p>
        </p:txBody>
      </p:sp>
      <p:sp>
        <p:nvSpPr>
          <p:cNvPr id="3" name="Content Placeholder 2"/>
          <p:cNvSpPr>
            <a:spLocks noGrp="1"/>
          </p:cNvSpPr>
          <p:nvPr>
            <p:ph idx="1"/>
          </p:nvPr>
        </p:nvSpPr>
        <p:spPr/>
        <p:txBody>
          <a:bodyPr>
            <a:normAutofit/>
          </a:bodyPr>
          <a:p>
            <a:pPr marL="0" indent="0">
              <a:buNone/>
            </a:pPr>
            <a:r>
              <a:rPr lang="en-US" altLang="en-US" sz="2000" b="1"/>
              <a:t>1. URL(String address):</a:t>
            </a:r>
            <a:r>
              <a:rPr lang="en-US" altLang="en-US" sz="2000"/>
              <a:t> It creates a URL object from the specified String.</a:t>
            </a:r>
            <a:endParaRPr lang="en-US" altLang="en-US" sz="2000"/>
          </a:p>
          <a:p>
            <a:pPr marL="0" indent="0">
              <a:buNone/>
            </a:pPr>
            <a:r>
              <a:rPr lang="en-US" altLang="en-US" sz="2000"/>
              <a:t>Example:try {</a:t>
            </a:r>
            <a:endParaRPr lang="en-US" altLang="en-US" sz="2000"/>
          </a:p>
          <a:p>
            <a:pPr marL="0" indent="0">
              <a:buNone/>
            </a:pPr>
            <a:r>
              <a:rPr lang="en-US" altLang="en-US" sz="2000"/>
              <a:t>    URL url = new URL("https://www.example.com/");</a:t>
            </a:r>
            <a:endParaRPr lang="en-US" altLang="en-US" sz="2000"/>
          </a:p>
          <a:p>
            <a:pPr marL="0" indent="0">
              <a:buNone/>
            </a:pPr>
            <a:r>
              <a:rPr lang="en-US" altLang="en-US" sz="2000"/>
              <a:t>} catch (MalformedURLException e) {    e.printStackTrace(); }</a:t>
            </a:r>
            <a:endParaRPr lang="en-US" altLang="en-US" sz="2000"/>
          </a:p>
          <a:p>
            <a:pPr marL="0" indent="0">
              <a:buNone/>
            </a:pPr>
            <a:endParaRPr lang="en-US" altLang="en-US" sz="2000"/>
          </a:p>
          <a:p>
            <a:pPr marL="0" indent="0">
              <a:buNone/>
            </a:pPr>
            <a:r>
              <a:rPr lang="en-US" altLang="en-US" sz="2000" b="1"/>
              <a:t>2. URL(String protocol, String host, String file):</a:t>
            </a:r>
            <a:r>
              <a:rPr lang="en-US" altLang="en-US" sz="2000"/>
              <a:t> Creates a URL object from the specified protocol, host, and file name.</a:t>
            </a:r>
            <a:endParaRPr lang="en-US" altLang="en-US" sz="2000"/>
          </a:p>
          <a:p>
            <a:pPr marL="0" indent="0">
              <a:buNone/>
            </a:pPr>
            <a:r>
              <a:rPr lang="en-US" altLang="en-US" sz="2000"/>
              <a:t>Example: try {    URL url = new URL("http", "www.example.com", "/path/to/resource");</a:t>
            </a:r>
            <a:endParaRPr lang="en-US" altLang="en-US" sz="2000"/>
          </a:p>
          <a:p>
            <a:pPr marL="0" indent="0">
              <a:buNone/>
            </a:pPr>
            <a:r>
              <a:rPr lang="en-US" altLang="en-US" sz="2000"/>
              <a:t>} catch (MalformedURLException e) {    e.printStackTrace(); }</a:t>
            </a:r>
            <a:endParaRPr lang="en-US" altLang="en-US" sz="20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838200" y="998855"/>
            <a:ext cx="10515600" cy="5178425"/>
          </a:xfrm>
        </p:spPr>
        <p:txBody>
          <a:bodyPr/>
          <a:p>
            <a:pPr marL="0" indent="0">
              <a:buNone/>
            </a:pPr>
            <a:r>
              <a:rPr lang="en-US" altLang="en-US" sz="2000" b="1"/>
              <a:t>3. URL(String protocol, String host, int port, String file):</a:t>
            </a:r>
            <a:r>
              <a:rPr lang="en-US" altLang="en-US" sz="2000"/>
              <a:t> Creates a URL object from protocol, host, port, and file name.</a:t>
            </a:r>
            <a:endParaRPr lang="en-US" altLang="en-US" sz="2000"/>
          </a:p>
          <a:p>
            <a:pPr marL="0" indent="0">
              <a:buNone/>
            </a:pPr>
            <a:r>
              <a:rPr lang="en-US" altLang="en-US" sz="2000"/>
              <a:t>Example:</a:t>
            </a:r>
            <a:endParaRPr lang="en-US" altLang="en-US" sz="2000"/>
          </a:p>
          <a:p>
            <a:pPr marL="0" indent="0">
              <a:buNone/>
            </a:pPr>
            <a:r>
              <a:rPr lang="en-US" altLang="en-US" sz="2000"/>
              <a:t>try {    URL url = new URL("https", "www.example.com", 443, "/path/to/resource");} catch (MalformedURLException e) {</a:t>
            </a:r>
            <a:endParaRPr lang="en-US" altLang="en-US" sz="2000"/>
          </a:p>
          <a:p>
            <a:pPr marL="0" indent="0">
              <a:buNone/>
            </a:pPr>
            <a:r>
              <a:rPr lang="en-US" altLang="en-US" sz="2000"/>
              <a:t>    e.printStackTrace();}</a:t>
            </a:r>
            <a:endParaRPr lang="en-US" altLang="en-US" sz="2000"/>
          </a:p>
          <a:p>
            <a:pPr marL="0" indent="0">
              <a:buNone/>
            </a:pPr>
            <a:r>
              <a:rPr lang="en-US" altLang="en-US" sz="2000" b="1"/>
              <a:t>4. URL(URL context, String spec):</a:t>
            </a:r>
            <a:r>
              <a:rPr lang="en-US" altLang="en-US" sz="2000"/>
              <a:t> Creates a URL object by parsing the given spec in the given context. </a:t>
            </a:r>
            <a:endParaRPr lang="en-US" altLang="en-US" sz="2000"/>
          </a:p>
          <a:p>
            <a:pPr marL="0" indent="0">
              <a:buNone/>
            </a:pPr>
            <a:r>
              <a:rPr lang="en-US" altLang="en-US" sz="2000"/>
              <a:t>Example: try {</a:t>
            </a:r>
            <a:endParaRPr lang="en-US" altLang="en-US" sz="2000"/>
          </a:p>
          <a:p>
            <a:pPr marL="0" indent="0">
              <a:buNone/>
            </a:pPr>
            <a:r>
              <a:rPr lang="en-US" altLang="en-US" sz="2000"/>
              <a:t>    URL baseUrl = new URL("https://www.example.com/");</a:t>
            </a:r>
            <a:endParaRPr lang="en-US" altLang="en-US" sz="2000"/>
          </a:p>
          <a:p>
            <a:pPr marL="0" indent="0">
              <a:buNone/>
            </a:pPr>
            <a:r>
              <a:rPr lang="en-US" altLang="en-US" sz="2000"/>
              <a:t>    URL relativeUrl = new URL(baseUrl, "/path/to/resource");</a:t>
            </a:r>
            <a:endParaRPr lang="en-US" altLang="en-US" sz="2000"/>
          </a:p>
          <a:p>
            <a:pPr marL="0" indent="0">
              <a:buNone/>
            </a:pPr>
            <a:r>
              <a:rPr lang="en-US" altLang="en-US" sz="2000"/>
              <a:t>} catch (MalformedURLException e) { e.printStackTrace(); }</a:t>
            </a:r>
            <a:endParaRPr lang="en-US" altLang="en-US" sz="20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838200" y="917575"/>
            <a:ext cx="10515600" cy="5259705"/>
          </a:xfrm>
        </p:spPr>
        <p:txBody>
          <a:bodyPr/>
          <a:p>
            <a:pPr marL="0" indent="0">
              <a:buNone/>
            </a:pPr>
            <a:r>
              <a:rPr lang="en-US" altLang="en-US" sz="2000" b="1"/>
              <a:t>5. URL(String protocol, String host, int port, String file, URLStreamHandler handler): </a:t>
            </a:r>
            <a:r>
              <a:rPr lang="en-US" altLang="en-US" sz="2000"/>
              <a:t>Creates a URL object from the specified protocol, host, port number, file, and handler.</a:t>
            </a:r>
            <a:endParaRPr lang="en-US" altLang="en-US" sz="2000"/>
          </a:p>
          <a:p>
            <a:pPr marL="0" indent="0">
              <a:buNone/>
            </a:pPr>
            <a:r>
              <a:rPr lang="en-US" altLang="en-US" sz="2000"/>
              <a:t>Example:</a:t>
            </a:r>
            <a:endParaRPr lang="en-US" altLang="en-US" sz="2000"/>
          </a:p>
          <a:p>
            <a:pPr marL="0" indent="0">
              <a:buNone/>
            </a:pPr>
            <a:r>
              <a:rPr lang="en-US" altLang="en-US" sz="2000"/>
              <a:t>try {    URL url = new URL("http", "www.example.com", 80, "/path/to/resource", new MyCustomHandler());</a:t>
            </a:r>
            <a:endParaRPr lang="en-US" altLang="en-US" sz="2000"/>
          </a:p>
          <a:p>
            <a:pPr marL="0" indent="0">
              <a:buNone/>
            </a:pPr>
            <a:r>
              <a:rPr lang="en-US" altLang="en-US" sz="2000"/>
              <a:t>} catch (MalformedURLException e) {    e.printStackTrace(); }</a:t>
            </a:r>
            <a:endParaRPr lang="en-US" altLang="en-US" sz="2000"/>
          </a:p>
          <a:p>
            <a:pPr marL="0" indent="0">
              <a:buNone/>
            </a:pPr>
            <a:r>
              <a:rPr lang="en-US" altLang="en-US" sz="2000" b="1"/>
              <a:t>6. URL(URL context, String spec, URLStreamHandler handler): </a:t>
            </a:r>
            <a:r>
              <a:rPr lang="en-US" altLang="en-US" sz="2000"/>
              <a:t>Creates a URL by parsing the given spec with the specified handler within a specified context.</a:t>
            </a:r>
            <a:endParaRPr lang="en-US" altLang="en-US" sz="2000"/>
          </a:p>
          <a:p>
            <a:pPr marL="0" indent="0">
              <a:buNone/>
            </a:pPr>
            <a:r>
              <a:rPr lang="en-US" altLang="en-US" sz="2000"/>
              <a:t>Example:</a:t>
            </a:r>
            <a:endParaRPr lang="en-US" altLang="en-US" sz="2000"/>
          </a:p>
          <a:p>
            <a:pPr marL="0" indent="0">
              <a:buNone/>
            </a:pPr>
            <a:r>
              <a:rPr lang="en-US" altLang="en-US" sz="2000"/>
              <a:t>try {</a:t>
            </a:r>
            <a:endParaRPr lang="en-US" altLang="en-US" sz="2000"/>
          </a:p>
          <a:p>
            <a:pPr marL="0" indent="0">
              <a:buNone/>
            </a:pPr>
            <a:r>
              <a:rPr lang="en-US" altLang="en-US" sz="2000"/>
              <a:t>    URL baseUrl = new URL("https://www.example.com/");</a:t>
            </a:r>
            <a:endParaRPr lang="en-US" altLang="en-US" sz="2000"/>
          </a:p>
          <a:p>
            <a:pPr marL="0" indent="0">
              <a:buNone/>
            </a:pPr>
            <a:r>
              <a:rPr lang="en-US" altLang="en-US" sz="2000"/>
              <a:t>    URL relativeUrl = new URL(baseUrl, "/path/to/resource", new MyCustomHandler());</a:t>
            </a:r>
            <a:endParaRPr lang="en-US" altLang="en-US" sz="2000"/>
          </a:p>
          <a:p>
            <a:pPr marL="0" indent="0">
              <a:buNone/>
            </a:pPr>
            <a:r>
              <a:rPr lang="en-US" altLang="en-US" sz="2000"/>
              <a:t>} catch (MalformedURLException e) {    e.printStackTrace();}</a:t>
            </a:r>
            <a:endParaRPr lang="en-US" altLang="en-US" sz="20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10515600" cy="622935"/>
          </a:xfrm>
        </p:spPr>
        <p:txBody>
          <a:bodyPr>
            <a:normAutofit fontScale="90000"/>
          </a:bodyPr>
          <a:p>
            <a:r>
              <a:rPr lang="en-US"/>
              <a:t>The Important Method of URL Class are given below</a:t>
            </a:r>
            <a:endParaRPr lang="en-US"/>
          </a:p>
        </p:txBody>
      </p:sp>
      <p:pic>
        <p:nvPicPr>
          <p:cNvPr id="4" name="Content Placeholder 3"/>
          <p:cNvPicPr>
            <a:picLocks noChangeAspect="1"/>
          </p:cNvPicPr>
          <p:nvPr>
            <p:ph idx="1"/>
          </p:nvPr>
        </p:nvPicPr>
        <p:blipFill>
          <a:blip r:embed="rId1"/>
          <a:stretch>
            <a:fillRect/>
          </a:stretch>
        </p:blipFill>
        <p:spPr>
          <a:xfrm>
            <a:off x="1090930" y="1547495"/>
            <a:ext cx="9203055" cy="462978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t>Retrieving Data from a URL</a:t>
            </a:r>
            <a:endParaRPr lang="en-US" altLang="en-US"/>
          </a:p>
        </p:txBody>
      </p:sp>
      <p:sp>
        <p:nvSpPr>
          <p:cNvPr id="3" name="Content Placeholder 2"/>
          <p:cNvSpPr>
            <a:spLocks noGrp="1"/>
          </p:cNvSpPr>
          <p:nvPr>
            <p:ph idx="1"/>
          </p:nvPr>
        </p:nvSpPr>
        <p:spPr/>
        <p:txBody>
          <a:bodyPr/>
          <a:p>
            <a:pPr marL="0" indent="0">
              <a:buNone/>
            </a:pPr>
            <a:r>
              <a:rPr lang="en-US" altLang="en-US" sz="2000"/>
              <a:t>The URL class has several methods that retrieve data from a URL:</a:t>
            </a:r>
            <a:endParaRPr lang="en-US" altLang="en-US" sz="2000"/>
          </a:p>
          <a:p>
            <a:r>
              <a:rPr lang="en-US" altLang="en-US" sz="2000"/>
              <a:t>public InputStream openStream() throws IOException</a:t>
            </a:r>
            <a:endParaRPr lang="en-US" altLang="en-US" sz="2000"/>
          </a:p>
          <a:p>
            <a:r>
              <a:rPr lang="en-US" altLang="en-US" sz="2000"/>
              <a:t>public URLConnection openConnection() throws IOException</a:t>
            </a:r>
            <a:endParaRPr lang="en-US" altLang="en-US" sz="2000"/>
          </a:p>
          <a:p>
            <a:r>
              <a:rPr lang="en-US" altLang="en-US" sz="2000"/>
              <a:t>public URLConnection openConnection(Proxy proxy) throws IOException</a:t>
            </a:r>
            <a:endParaRPr lang="en-US" altLang="en-US" sz="2000"/>
          </a:p>
          <a:p>
            <a:r>
              <a:rPr lang="en-US" altLang="en-US" sz="2000"/>
              <a:t>public Object getContent() throws IOException</a:t>
            </a:r>
            <a:endParaRPr lang="en-US" altLang="en-US" sz="2000"/>
          </a:p>
          <a:p>
            <a:r>
              <a:rPr lang="en-US" altLang="en-US" sz="2000"/>
              <a:t>public Object getContent(Class[] classes) throws IOException</a:t>
            </a:r>
            <a:endParaRPr lang="en-US" altLang="en-US" sz="20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838200" y="565785"/>
            <a:ext cx="10515600" cy="5611495"/>
          </a:xfrm>
        </p:spPr>
        <p:txBody>
          <a:bodyPr>
            <a:normAutofit lnSpcReduction="10000"/>
          </a:bodyPr>
          <a:p>
            <a:r>
              <a:rPr lang="en-US" altLang="en-US" sz="2000" b="1"/>
              <a:t>public final InputStream openStream() throws IOException</a:t>
            </a:r>
            <a:endParaRPr lang="en-US" altLang="en-US" sz="2000" b="1"/>
          </a:p>
          <a:p>
            <a:pPr marL="0" indent="0" algn="just">
              <a:buNone/>
            </a:pPr>
            <a:r>
              <a:rPr lang="en-US" altLang="en-US" sz="2000" b="1"/>
              <a:t> </a:t>
            </a:r>
            <a:r>
              <a:rPr lang="en-US" altLang="en-US" sz="2000"/>
              <a:t>The openStream() method connects to the resource referenced by the URL, performs any necessary handshaking between the client and the server, and returns an Input Stream from which data can be read.</a:t>
            </a:r>
            <a:endParaRPr lang="en-US" altLang="en-US" sz="2000"/>
          </a:p>
          <a:p>
            <a:pPr marL="0" indent="0" algn="just">
              <a:buNone/>
            </a:pPr>
            <a:r>
              <a:rPr lang="en-US" altLang="en-US" sz="2000"/>
              <a:t>It opens a connection to the given URL and returns an InputStream. Through this stream, you can read the raw content of the URL like text, HTML, or image data without any HTTP headers.</a:t>
            </a:r>
            <a:endParaRPr lang="en-US" altLang="en-US" sz="2000"/>
          </a:p>
          <a:p>
            <a:pPr marL="0" indent="0" algn="just">
              <a:buNone/>
            </a:pPr>
            <a:r>
              <a:rPr lang="en-US" altLang="en-US" sz="2000"/>
              <a:t>For example:</a:t>
            </a:r>
            <a:endParaRPr lang="en-US" altLang="en-US" sz="2000"/>
          </a:p>
          <a:p>
            <a:pPr marL="0" indent="0" algn="just">
              <a:buNone/>
            </a:pPr>
            <a:r>
              <a:rPr lang="en-US" altLang="en-US" sz="2000"/>
              <a:t>try {</a:t>
            </a:r>
            <a:endParaRPr lang="en-US" altLang="en-US" sz="2000"/>
          </a:p>
          <a:p>
            <a:pPr marL="0" indent="0" algn="just">
              <a:buNone/>
            </a:pPr>
            <a:r>
              <a:rPr lang="en-US" altLang="en-US" sz="2000"/>
              <a:t> URL u = new URL("http://www.lolcats.com");</a:t>
            </a:r>
            <a:endParaRPr lang="en-US" altLang="en-US" sz="2000"/>
          </a:p>
          <a:p>
            <a:pPr marL="0" indent="0" algn="just">
              <a:buNone/>
            </a:pPr>
            <a:r>
              <a:rPr lang="en-US" altLang="en-US" sz="2000"/>
              <a:t> InputStream in = u.openStream();</a:t>
            </a:r>
            <a:endParaRPr lang="en-US" altLang="en-US" sz="2000"/>
          </a:p>
          <a:p>
            <a:pPr marL="0" indent="0" algn="just">
              <a:buNone/>
            </a:pPr>
            <a:r>
              <a:rPr lang="en-US" altLang="en-US" sz="2000"/>
              <a:t> int c;</a:t>
            </a:r>
            <a:endParaRPr lang="en-US" altLang="en-US" sz="2000"/>
          </a:p>
          <a:p>
            <a:pPr marL="0" indent="0" algn="just">
              <a:buNone/>
            </a:pPr>
            <a:r>
              <a:rPr lang="en-US" altLang="en-US" sz="2000"/>
              <a:t> while ((c = in.read()) != -1) System.out.write(c);</a:t>
            </a:r>
            <a:endParaRPr lang="en-US" altLang="en-US" sz="2000"/>
          </a:p>
          <a:p>
            <a:pPr marL="0" indent="0" algn="just">
              <a:buNone/>
            </a:pPr>
            <a:r>
              <a:rPr lang="en-US" altLang="en-US" sz="2000"/>
              <a:t> in.close();</a:t>
            </a:r>
            <a:endParaRPr lang="en-US" altLang="en-US" sz="2000"/>
          </a:p>
          <a:p>
            <a:pPr marL="0" indent="0" algn="just">
              <a:buNone/>
            </a:pPr>
            <a:r>
              <a:rPr lang="en-US" altLang="en-US" sz="2000"/>
              <a:t>} catch (IOException ex) {</a:t>
            </a:r>
            <a:endParaRPr lang="en-US" altLang="en-US" sz="2000"/>
          </a:p>
          <a:p>
            <a:pPr marL="0" indent="0" algn="just">
              <a:buNone/>
            </a:pPr>
            <a:r>
              <a:rPr lang="en-US" altLang="en-US" sz="2000"/>
              <a:t> System.err.println(ex);</a:t>
            </a:r>
            <a:endParaRPr lang="en-US" altLang="en-US" sz="2000"/>
          </a:p>
          <a:p>
            <a:pPr marL="0" indent="0" algn="just">
              <a:buNone/>
            </a:pPr>
            <a:r>
              <a:rPr lang="en-US" altLang="en-US" sz="2000"/>
              <a:t>}</a:t>
            </a:r>
            <a:endParaRPr lang="en-US" altLang="en-US" sz="20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sz="3200" b="1"/>
              <a:t>public URLConnection openConnection() throws IOException</a:t>
            </a:r>
            <a:endParaRPr lang="en-US" altLang="en-US" sz="3200" b="1"/>
          </a:p>
        </p:txBody>
      </p:sp>
      <p:sp>
        <p:nvSpPr>
          <p:cNvPr id="3" name="Content Placeholder 2"/>
          <p:cNvSpPr>
            <a:spLocks noGrp="1"/>
          </p:cNvSpPr>
          <p:nvPr>
            <p:ph idx="1"/>
          </p:nvPr>
        </p:nvSpPr>
        <p:spPr/>
        <p:txBody>
          <a:bodyPr>
            <a:normAutofit/>
          </a:bodyPr>
          <a:p>
            <a:r>
              <a:rPr lang="en-US" altLang="en-US" sz="2000"/>
              <a:t>The openConnection() method opens a socket to the specified URL and returns a URLConnection object. A URLConnection represents an open connection to a network resource. If the call fails, openConnection() throws an IOException. For example:</a:t>
            </a:r>
            <a:endParaRPr lang="en-US" altLang="en-US" sz="2000"/>
          </a:p>
          <a:p>
            <a:pPr marL="0" indent="0">
              <a:buNone/>
            </a:pPr>
            <a:r>
              <a:rPr lang="en-US" altLang="en-US" sz="2000"/>
              <a:t>try { URL u = new URL("https://news.ycombinator.com/");</a:t>
            </a:r>
            <a:endParaRPr lang="en-US" altLang="en-US" sz="2000"/>
          </a:p>
          <a:p>
            <a:pPr marL="457200" lvl="1" indent="0">
              <a:buNone/>
            </a:pPr>
            <a:r>
              <a:rPr lang="en-US" altLang="en-US" sz="1710"/>
              <a:t> try { URLConnection uc = u.openConnection();</a:t>
            </a:r>
            <a:endParaRPr lang="en-US" altLang="en-US" sz="1710"/>
          </a:p>
          <a:p>
            <a:pPr marL="457200" lvl="1" indent="0">
              <a:buNone/>
            </a:pPr>
            <a:r>
              <a:rPr lang="en-US" altLang="en-US" sz="1710"/>
              <a:t>    InputStream in = uc.getInputStream();</a:t>
            </a:r>
            <a:endParaRPr lang="en-US" altLang="en-US" sz="1710"/>
          </a:p>
          <a:p>
            <a:pPr marL="457200" lvl="1" indent="0">
              <a:buNone/>
            </a:pPr>
            <a:r>
              <a:rPr lang="en-US" altLang="en-US" sz="1710"/>
              <a:t> } catch (IOException ex) {</a:t>
            </a:r>
            <a:endParaRPr lang="en-US" altLang="en-US" sz="1710"/>
          </a:p>
          <a:p>
            <a:pPr marL="0" indent="0">
              <a:buNone/>
            </a:pPr>
            <a:r>
              <a:rPr lang="en-US" altLang="en-US" sz="2000"/>
              <a:t> System.err.println(ex); }</a:t>
            </a:r>
            <a:endParaRPr lang="en-US" altLang="en-US" sz="2000"/>
          </a:p>
          <a:p>
            <a:pPr marL="0" indent="0">
              <a:buNone/>
            </a:pPr>
            <a:r>
              <a:rPr lang="en-US" altLang="en-US" sz="2000"/>
              <a:t>} catch (MalformedURLException ex) {</a:t>
            </a:r>
            <a:endParaRPr lang="en-US" altLang="en-US" sz="2000"/>
          </a:p>
          <a:p>
            <a:pPr marL="0" indent="0">
              <a:buNone/>
            </a:pPr>
            <a:r>
              <a:rPr lang="en-US" altLang="en-US" sz="2000"/>
              <a:t> System.err.println(ex);</a:t>
            </a:r>
            <a:endParaRPr lang="en-US" altLang="en-US" sz="2000"/>
          </a:p>
          <a:p>
            <a:pPr marL="0" indent="0">
              <a:buNone/>
            </a:pPr>
            <a:r>
              <a:rPr lang="en-US" altLang="en-US" sz="2000"/>
              <a:t>}</a:t>
            </a:r>
            <a:endParaRPr lang="en-US" altLang="en-US" sz="20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sz="3600" b="1"/>
              <a:t>public final Object getContent() throws IOException</a:t>
            </a:r>
            <a:endParaRPr lang="en-US" altLang="en-US" sz="3600" b="1"/>
          </a:p>
        </p:txBody>
      </p:sp>
      <p:sp>
        <p:nvSpPr>
          <p:cNvPr id="3" name="Content Placeholder 2"/>
          <p:cNvSpPr>
            <a:spLocks noGrp="1"/>
          </p:cNvSpPr>
          <p:nvPr>
            <p:ph idx="1"/>
          </p:nvPr>
        </p:nvSpPr>
        <p:spPr>
          <a:xfrm>
            <a:off x="648335" y="1562100"/>
            <a:ext cx="10705465" cy="4980940"/>
          </a:xfrm>
        </p:spPr>
        <p:txBody>
          <a:bodyPr>
            <a:normAutofit fontScale="80000"/>
          </a:bodyPr>
          <a:p>
            <a:pPr marL="0" indent="0">
              <a:buNone/>
            </a:pPr>
            <a:r>
              <a:rPr lang="en-US" altLang="en-US" sz="2400"/>
              <a:t> The getContent() method is the third way to download data referenced by a URL. getContent() operates by looking at the Content-type field in the header of the data it gets from the server. If the server does not use MIME headers or sends an unfamiliar Content-type, getContent() returns some sort of InputStream with which the data acan be read.</a:t>
            </a:r>
            <a:endParaRPr lang="en-US" altLang="en-US" sz="2400"/>
          </a:p>
          <a:p>
            <a:pPr marL="0" indent="0">
              <a:buNone/>
            </a:pPr>
            <a:r>
              <a:rPr lang="en-US" altLang="en-US" sz="2400"/>
              <a:t>try {</a:t>
            </a:r>
            <a:endParaRPr lang="en-US" altLang="en-US" sz="2400"/>
          </a:p>
          <a:p>
            <a:pPr marL="0" indent="0">
              <a:buNone/>
            </a:pPr>
            <a:r>
              <a:rPr lang="en-US" altLang="en-US" sz="2400"/>
              <a:t> URL u = new URL(args[0]);</a:t>
            </a:r>
            <a:endParaRPr lang="en-US" altLang="en-US" sz="2400"/>
          </a:p>
          <a:p>
            <a:pPr marL="0" indent="0">
              <a:buNone/>
            </a:pPr>
            <a:r>
              <a:rPr lang="en-US" altLang="en-US" sz="2400"/>
              <a:t> Object o = u.getContent();</a:t>
            </a:r>
            <a:endParaRPr lang="en-US" altLang="en-US" sz="2400"/>
          </a:p>
          <a:p>
            <a:pPr marL="0" indent="0">
              <a:buNone/>
            </a:pPr>
            <a:r>
              <a:rPr lang="en-US" altLang="en-US" sz="2400"/>
              <a:t> System.out.println("I got a " + o.getClass().getName());</a:t>
            </a:r>
            <a:endParaRPr lang="en-US" altLang="en-US" sz="2400"/>
          </a:p>
          <a:p>
            <a:pPr marL="0" indent="0">
              <a:buNone/>
            </a:pPr>
            <a:r>
              <a:rPr lang="en-US" altLang="en-US" sz="2400"/>
              <a:t> } catch (MalformedURLException ex) {</a:t>
            </a:r>
            <a:endParaRPr lang="en-US" altLang="en-US" sz="2400"/>
          </a:p>
          <a:p>
            <a:pPr marL="0" indent="0">
              <a:buNone/>
            </a:pPr>
            <a:r>
              <a:rPr lang="en-US" altLang="en-US" sz="2400"/>
              <a:t> System.err.println(args[0] + " is not a parseable URL");</a:t>
            </a:r>
            <a:endParaRPr lang="en-US" altLang="en-US" sz="2400"/>
          </a:p>
          <a:p>
            <a:pPr marL="0" indent="0">
              <a:buNone/>
            </a:pPr>
            <a:r>
              <a:rPr lang="en-US" altLang="en-US" sz="2400"/>
              <a:t> } catch (IOException ex) {</a:t>
            </a:r>
            <a:endParaRPr lang="en-US" altLang="en-US" sz="2400"/>
          </a:p>
          <a:p>
            <a:pPr marL="0" indent="0">
              <a:buNone/>
            </a:pPr>
            <a:r>
              <a:rPr lang="en-US" altLang="en-US" sz="2400"/>
              <a:t> System.err.println(ex);</a:t>
            </a:r>
            <a:endParaRPr lang="en-US" altLang="en-US" sz="2400"/>
          </a:p>
          <a:p>
            <a:pPr marL="0" indent="0">
              <a:buNone/>
            </a:pPr>
            <a:r>
              <a:rPr lang="en-US" altLang="en-US" sz="2400"/>
              <a:t> }</a:t>
            </a:r>
            <a:endParaRPr lang="en-US" altLang="en-US" sz="24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t>Constructing a URI</a:t>
            </a:r>
            <a:endParaRPr lang="en-US" altLang="en-US"/>
          </a:p>
        </p:txBody>
      </p:sp>
      <p:sp>
        <p:nvSpPr>
          <p:cNvPr id="3" name="Content Placeholder 2"/>
          <p:cNvSpPr>
            <a:spLocks noGrp="1"/>
          </p:cNvSpPr>
          <p:nvPr>
            <p:ph idx="1"/>
          </p:nvPr>
        </p:nvSpPr>
        <p:spPr/>
        <p:txBody>
          <a:bodyPr>
            <a:normAutofit lnSpcReduction="20000"/>
          </a:bodyPr>
          <a:p>
            <a:pPr algn="just"/>
            <a:r>
              <a:rPr lang="en-US" altLang="en-US" sz="2000" b="1"/>
              <a:t>URI(String uri):</a:t>
            </a:r>
            <a:r>
              <a:rPr lang="en-US" altLang="en-US" sz="1800"/>
              <a:t>This constructor creates a URI object from a complete URI supplied as a single string. It is the simplest way to form a URI because the entire address, including the scheme, host, path, query, and fragment, is provided together. The constructor then parses the string and separates all its components automatically. This method is useful when the full URI is already known in advance. </a:t>
            </a:r>
            <a:r>
              <a:rPr lang="en-US" altLang="en-US" sz="1800" b="1"/>
              <a:t>Example:</a:t>
            </a:r>
            <a:r>
              <a:rPr lang="en-US" altLang="en-US" sz="1800"/>
              <a:t> URI u = new URI("https://example.com/page?id=10#top");</a:t>
            </a:r>
            <a:endParaRPr lang="en-US" altLang="en-US" sz="1800"/>
          </a:p>
          <a:p>
            <a:pPr algn="just"/>
            <a:r>
              <a:rPr lang="en-US" altLang="en-US" sz="1800" b="1"/>
              <a:t>URI(String scheme, String schemeSpecificPart, String fragment): </a:t>
            </a:r>
            <a:r>
              <a:rPr lang="en-US" altLang="en-US" sz="1800"/>
              <a:t>This constructor builds a URI by explicitly giving the scheme and the scheme-specific part, rather than the authority and path separately. It is mainly used for non-hierarchical URIs such as mailto:, urn:, and file: where the URI does not follow the typical host/path structure. The optional fragment identifies a subsection within the resource. This form is convenient when the content after the scheme does not follow a normal URL pattern. </a:t>
            </a:r>
            <a:r>
              <a:rPr lang="en-US" altLang="en-US" sz="1800" b="1"/>
              <a:t>Example: </a:t>
            </a:r>
            <a:r>
              <a:rPr lang="en-US" altLang="en-US" sz="1800"/>
              <a:t>URI u = new URI("mailto", "admin@example.com", null);</a:t>
            </a:r>
            <a:endParaRPr lang="en-US" altLang="en-US" sz="1800"/>
          </a:p>
          <a:p>
            <a:pPr algn="just"/>
            <a:r>
              <a:rPr lang="en-US" altLang="en-US" sz="1800" b="1"/>
              <a:t>URI(String scheme, String host, String path, String fragment) :</a:t>
            </a:r>
            <a:r>
              <a:rPr lang="en-US" altLang="en-US" sz="1800"/>
              <a:t>This constructor is used to create a standard hierarchical URI by separately specifying the scheme, host, and path. The fragment identifies a specific part within the resource, such as a section on a webpage. This form is useful when constructing regular web URLs programmatically because it separates the network location (host) from the resource path. </a:t>
            </a:r>
            <a:r>
              <a:rPr lang="en-US" altLang="en-US" sz="1800" b="1"/>
              <a:t>Example:</a:t>
            </a:r>
            <a:r>
              <a:rPr lang="en-US" altLang="en-US" sz="1800"/>
              <a:t> URI u = new URI("https", "example.com", "/index.html", "top");</a:t>
            </a:r>
            <a:endParaRPr lang="en-US" altLang="en-US" sz="18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838200" y="902335"/>
            <a:ext cx="10515600" cy="5274945"/>
          </a:xfrm>
        </p:spPr>
        <p:txBody>
          <a:bodyPr>
            <a:normAutofit lnSpcReduction="10000"/>
          </a:bodyPr>
          <a:p>
            <a:pPr algn="just"/>
            <a:r>
              <a:rPr lang="en-US" altLang="en-US" sz="2000" b="1"/>
              <a:t>URI(String scheme, String authority, String path, String query, String fragment)</a:t>
            </a:r>
            <a:r>
              <a:rPr lang="en-US" altLang="en-US"/>
              <a:t>: </a:t>
            </a:r>
            <a:r>
              <a:rPr lang="en-US" altLang="en-US" sz="2000"/>
              <a:t>This constructor allows you to build a URI by providing the authority as one complete unit. The authority may include the host, port number, and optional user information. The path identifies the location of the resource, and the query contains parameters passed to the server. The fragment points to a subsection within the resource. This constructor is helpful when the authority part needs to be included exactly as it is, such as example.com:8080 or user@host.Example:URI u = new URI("https", "example.com:8080", "/products", "type=mobile", null);</a:t>
            </a:r>
            <a:endParaRPr lang="en-US" altLang="en-US" sz="2000"/>
          </a:p>
          <a:p>
            <a:pPr algn="just"/>
            <a:r>
              <a:rPr lang="en-US" altLang="en-US" sz="2000" b="1"/>
              <a:t>URI(String scheme, String userInfo, String host, int port, String path, String query, String fragment):</a:t>
            </a:r>
            <a:r>
              <a:rPr lang="en-US" altLang="en-US" sz="2000"/>
              <a:t> This is the most detailed and flexible URI constructor, allowing every component of a hierarchical URI to be provided individually. The userInfo may include a username or username and password, the host specifies the server’s domain name, and the port indicates the communication port. The path represents the specific resource, the query provides additional parameters, and the fragment points to a section inside the resource. This constructor is typically used when building secure or customized URIs that require user authentication or non-default ports. </a:t>
            </a:r>
            <a:endParaRPr lang="en-US" altLang="en-US" sz="2000"/>
          </a:p>
          <a:p>
            <a:pPr marL="0" indent="0" algn="just">
              <a:buNone/>
            </a:pPr>
            <a:r>
              <a:rPr lang="en-US" altLang="en-US" sz="2000"/>
              <a:t> </a:t>
            </a:r>
            <a:r>
              <a:rPr lang="en-US" altLang="en-US" sz="2000" b="1"/>
              <a:t>   Example:  URI u = new URI("https", "user:pass", "example.com", 8080, "/account", "id=20", "details");</a:t>
            </a:r>
            <a:endParaRPr lang="en-US" altLang="en-US" sz="2000" b="1"/>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t>Parts of a URI</a:t>
            </a:r>
            <a:endParaRPr lang="en-US" altLang="en-US"/>
          </a:p>
        </p:txBody>
      </p:sp>
      <p:sp>
        <p:nvSpPr>
          <p:cNvPr id="3" name="Content Placeholder 2"/>
          <p:cNvSpPr>
            <a:spLocks noGrp="1"/>
          </p:cNvSpPr>
          <p:nvPr>
            <p:ph idx="1"/>
          </p:nvPr>
        </p:nvSpPr>
        <p:spPr/>
        <p:txBody>
          <a:bodyPr>
            <a:normAutofit fontScale="90000"/>
          </a:bodyPr>
          <a:p>
            <a:r>
              <a:rPr lang="en-US" altLang="en-US" sz="2000"/>
              <a:t>A URI is divided into several components. Not all URIs contain all parts, but most hierarchical URIs follow the general structure: </a:t>
            </a:r>
            <a:r>
              <a:rPr lang="en-US" altLang="en-US" sz="2000" b="1"/>
              <a:t>scheme://userInfo@host:port/path?query#fragment</a:t>
            </a:r>
            <a:endParaRPr lang="en-US" altLang="en-US" sz="2000" b="1"/>
          </a:p>
          <a:p>
            <a:pPr marL="0" indent="0">
              <a:buNone/>
            </a:pPr>
            <a:r>
              <a:rPr lang="en-US" altLang="en-US" sz="2000" b="1"/>
              <a:t>1. Scheme</a:t>
            </a:r>
            <a:endParaRPr lang="en-US" altLang="en-US" sz="2000" b="1"/>
          </a:p>
          <a:p>
            <a:pPr marL="0" indent="0">
              <a:buNone/>
            </a:pPr>
            <a:r>
              <a:rPr lang="en-US" altLang="en-US" sz="2000"/>
              <a:t>The scheme specifies the protocol used to access the resource.</a:t>
            </a:r>
            <a:endParaRPr lang="en-US" altLang="en-US" sz="2000"/>
          </a:p>
          <a:p>
            <a:pPr marL="0" indent="0">
              <a:buNone/>
            </a:pPr>
            <a:r>
              <a:rPr lang="en-US" altLang="en-US" sz="2000"/>
              <a:t>It ends with a colon (:). </a:t>
            </a:r>
            <a:endParaRPr lang="en-US" altLang="en-US" sz="2000"/>
          </a:p>
          <a:p>
            <a:pPr marL="0" indent="0">
              <a:buNone/>
            </a:pPr>
            <a:r>
              <a:rPr lang="en-US" altLang="en-US" sz="2000"/>
              <a:t>example: https://example.com</a:t>
            </a:r>
            <a:endParaRPr lang="en-US" altLang="en-US" sz="2000"/>
          </a:p>
          <a:p>
            <a:pPr marL="0" indent="0">
              <a:buNone/>
            </a:pPr>
            <a:r>
              <a:rPr lang="en-US" altLang="en-US" sz="2000" b="1"/>
              <a:t>2.</a:t>
            </a:r>
            <a:r>
              <a:rPr lang="en-US" altLang="en-US" sz="2000"/>
              <a:t> </a:t>
            </a:r>
            <a:r>
              <a:rPr lang="en-US" altLang="en-US" sz="2000" b="1"/>
              <a:t>User Info (Optional):</a:t>
            </a:r>
            <a:endParaRPr lang="en-US" altLang="en-US" sz="2000" b="1"/>
          </a:p>
          <a:p>
            <a:pPr marL="0" indent="0">
              <a:buNone/>
            </a:pPr>
            <a:r>
              <a:rPr lang="en-US" altLang="en-US" sz="2000"/>
              <a:t>User info contains username or username:password needed for authentication. It appears before the host and ends with @. Example: https://user:pass@example.com</a:t>
            </a:r>
            <a:endParaRPr lang="en-US" altLang="en-US" sz="2000"/>
          </a:p>
          <a:p>
            <a:pPr marL="0" indent="0">
              <a:buNone/>
            </a:pPr>
            <a:r>
              <a:rPr lang="en-US" altLang="en-US" sz="2000" b="1"/>
              <a:t>3. Host: </a:t>
            </a:r>
            <a:r>
              <a:rPr lang="en-US" altLang="en-US" sz="2000"/>
              <a:t>The host identifies the domain name or IP address of the server where the resource is located.</a:t>
            </a:r>
            <a:endParaRPr lang="en-US" altLang="en-US" sz="2000"/>
          </a:p>
          <a:p>
            <a:pPr marL="0" indent="0">
              <a:buNone/>
            </a:pPr>
            <a:r>
              <a:rPr lang="en-US" altLang="en-US" sz="2000"/>
              <a:t>Examples: example.com, 192.168.1.1</a:t>
            </a:r>
            <a:endParaRPr lang="en-US" altLang="en-US" sz="20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838200" y="565785"/>
            <a:ext cx="10515600" cy="5611495"/>
          </a:xfrm>
        </p:spPr>
        <p:txBody>
          <a:bodyPr/>
          <a:p>
            <a:pPr marL="0" indent="0">
              <a:buNone/>
            </a:pPr>
            <a:r>
              <a:rPr lang="en-US" altLang="en-US" sz="2000" b="1"/>
              <a:t>4. Port:</a:t>
            </a:r>
            <a:r>
              <a:rPr lang="en-US" altLang="en-US" sz="2000"/>
              <a:t> Port defines the communication endpoint on the server. If omitted, default ports are used (80 for HTTP, 443 for HTTPS). example: 8080</a:t>
            </a:r>
            <a:endParaRPr lang="en-US" altLang="en-US" sz="2000"/>
          </a:p>
          <a:p>
            <a:pPr marL="0" indent="0">
              <a:buNone/>
            </a:pPr>
            <a:r>
              <a:rPr lang="en-US" altLang="en-US" sz="2000"/>
              <a:t>5. </a:t>
            </a:r>
            <a:r>
              <a:rPr lang="en-US" altLang="en-US" sz="2000" b="1"/>
              <a:t>Path:</a:t>
            </a:r>
            <a:r>
              <a:rPr lang="en-US" altLang="en-US" sz="2000"/>
              <a:t> The path identifies the specific resource on the server. It usually represents directories or files. Example:  /index.html, /products/mobile/</a:t>
            </a:r>
            <a:endParaRPr lang="en-US" altLang="en-US" sz="2000"/>
          </a:p>
          <a:p>
            <a:pPr marL="0" indent="0">
              <a:buNone/>
            </a:pPr>
            <a:r>
              <a:rPr lang="en-US" altLang="en-US" sz="2000" b="1"/>
              <a:t>6. Query: </a:t>
            </a:r>
            <a:r>
              <a:rPr lang="en-US" altLang="en-US" sz="2000"/>
              <a:t>The query contains parameters sent to the server. It begins with a question mark (?) and contains key–value pairs separated by &amp;.</a:t>
            </a:r>
            <a:endParaRPr lang="en-US" altLang="en-US" sz="2000"/>
          </a:p>
          <a:p>
            <a:pPr marL="0" indent="0">
              <a:buNone/>
            </a:pPr>
            <a:r>
              <a:rPr lang="en-US" altLang="en-US" sz="2000"/>
              <a:t>example: ?id=10, ?search=phone&amp;price=20000</a:t>
            </a:r>
            <a:endParaRPr lang="en-US" altLang="en-US" sz="2000"/>
          </a:p>
          <a:p>
            <a:pPr marL="0" indent="0">
              <a:buNone/>
            </a:pPr>
            <a:r>
              <a:rPr lang="en-US" altLang="en-US" sz="2000" b="1"/>
              <a:t>7. Fragment :</a:t>
            </a:r>
            <a:r>
              <a:rPr lang="en-US" altLang="en-US" sz="2000"/>
              <a:t>The fragment identifies a specific section inside the document or page.</a:t>
            </a:r>
            <a:endParaRPr lang="en-US" altLang="en-US" sz="2000"/>
          </a:p>
          <a:p>
            <a:pPr marL="0" indent="0">
              <a:buNone/>
            </a:pPr>
            <a:r>
              <a:rPr lang="en-US" altLang="en-US" sz="2000"/>
              <a:t>It begins with #.</a:t>
            </a:r>
            <a:endParaRPr lang="en-US" altLang="en-US" sz="2000"/>
          </a:p>
          <a:p>
            <a:pPr marL="0" indent="0">
              <a:buNone/>
            </a:pPr>
            <a:r>
              <a:rPr lang="en-US" altLang="en-US" sz="2000"/>
              <a:t>example:</a:t>
            </a:r>
            <a:endParaRPr lang="en-US" altLang="en-US" sz="2000"/>
          </a:p>
          <a:p>
            <a:pPr marL="0" indent="0">
              <a:buNone/>
            </a:pPr>
            <a:r>
              <a:rPr lang="en-US" altLang="en-US" sz="2000"/>
              <a:t>https://example.com/page#details</a:t>
            </a:r>
            <a:endParaRPr lang="en-US" altLang="en-US" sz="20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Resolving Relative URIs </a:t>
            </a:r>
            <a:endParaRPr lang="en-US"/>
          </a:p>
        </p:txBody>
      </p:sp>
      <p:sp>
        <p:nvSpPr>
          <p:cNvPr id="3" name="Content Placeholder 2"/>
          <p:cNvSpPr>
            <a:spLocks noGrp="1"/>
          </p:cNvSpPr>
          <p:nvPr>
            <p:ph idx="1"/>
          </p:nvPr>
        </p:nvSpPr>
        <p:spPr/>
        <p:txBody>
          <a:bodyPr/>
          <a:p>
            <a:pPr algn="just"/>
            <a:r>
              <a:rPr lang="en-US" altLang="en-US" sz="2000"/>
              <a:t>Resolving a relative URI means converting a relative path into a complete, absolute URI using a base URI. The base URI provides the scheme, host, and initial path, and the relative URI supplies the additional resource path. The resolve() method in the URI class automatically combines them, handling directory movement, path replacement, and navigation symbols like .. and /.</a:t>
            </a:r>
            <a:endParaRPr lang="en-US" altLang="en-US" sz="2000"/>
          </a:p>
          <a:p>
            <a:pPr marL="0" indent="0" algn="just">
              <a:buNone/>
            </a:pPr>
            <a:r>
              <a:rPr lang="en-US" altLang="en-US" sz="2000"/>
              <a:t>    example : </a:t>
            </a:r>
            <a:endParaRPr lang="en-US" altLang="en-US" sz="2000"/>
          </a:p>
          <a:p>
            <a:pPr marL="0" indent="0" algn="just">
              <a:buNone/>
            </a:pPr>
            <a:r>
              <a:rPr lang="en-US" altLang="en-US" sz="2000"/>
              <a:t>        URI base = URI.create("https://example.com/folder/subfolder/");</a:t>
            </a:r>
            <a:endParaRPr lang="en-US" altLang="en-US" sz="2000"/>
          </a:p>
          <a:p>
            <a:pPr marL="0" indent="0" algn="just">
              <a:buNone/>
            </a:pPr>
            <a:endParaRPr lang="en-US" altLang="en-US" sz="2000"/>
          </a:p>
          <a:p>
            <a:pPr marL="0" indent="0" algn="just">
              <a:buNone/>
            </a:pPr>
            <a:r>
              <a:rPr lang="en-US" altLang="en-US" sz="2000"/>
              <a:t>        URI relative1 = URI.create("image.jpg");</a:t>
            </a:r>
            <a:endParaRPr lang="en-US" altLang="en-US" sz="2000"/>
          </a:p>
          <a:p>
            <a:pPr marL="0" indent="0" algn="just">
              <a:buNone/>
            </a:pPr>
            <a:r>
              <a:rPr lang="en-US" altLang="en-US" sz="2000"/>
              <a:t>        URI resolved1 = base.resolve(relative1);</a:t>
            </a:r>
            <a:endParaRPr lang="en-US" altLang="en-US" sz="200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fontScale="90000"/>
          </a:bodyPr>
          <a:p>
            <a:r>
              <a:rPr lang="en-US"/>
              <a:t>Equality &amp; comparison and String Representation</a:t>
            </a:r>
            <a:endParaRPr lang="en-US"/>
          </a:p>
        </p:txBody>
      </p:sp>
      <p:sp>
        <p:nvSpPr>
          <p:cNvPr id="3" name="Content Placeholder 2"/>
          <p:cNvSpPr>
            <a:spLocks noGrp="1"/>
          </p:cNvSpPr>
          <p:nvPr>
            <p:ph idx="1"/>
          </p:nvPr>
        </p:nvSpPr>
        <p:spPr/>
        <p:txBody>
          <a:bodyPr/>
          <a:p>
            <a:r>
              <a:rPr lang="en-US" altLang="en-US" sz="2000" b="1"/>
              <a:t>Equality</a:t>
            </a:r>
            <a:r>
              <a:rPr lang="en-US" altLang="en-US" sz="2000"/>
              <a:t>: Two URIs are equal when all their components (scheme, authority, path, query, fragment) match exactly after normalization.</a:t>
            </a:r>
            <a:endParaRPr lang="en-US" altLang="en-US" sz="2000"/>
          </a:p>
          <a:p>
            <a:pPr marL="0" indent="0">
              <a:buNone/>
            </a:pPr>
            <a:r>
              <a:rPr lang="en-US" altLang="en-US" sz="2000"/>
              <a:t>        URI uri1 = new URI("https://example.com/page/index.html");</a:t>
            </a:r>
            <a:endParaRPr lang="en-US" altLang="en-US" sz="2000"/>
          </a:p>
          <a:p>
            <a:pPr marL="0" indent="0">
              <a:buNone/>
            </a:pPr>
            <a:r>
              <a:rPr lang="en-US" altLang="en-US" sz="2000"/>
              <a:t>        URI uri2 = new URI("https://example.com/page/index.html");</a:t>
            </a:r>
            <a:endParaRPr lang="en-US" altLang="en-US" sz="2000"/>
          </a:p>
          <a:p>
            <a:pPr marL="0" indent="0">
              <a:buNone/>
            </a:pPr>
            <a:r>
              <a:rPr lang="en-US" altLang="en-US" sz="2000"/>
              <a:t>        if (uri1.equals(uri2)) {</a:t>
            </a:r>
            <a:endParaRPr lang="en-US" altLang="en-US" sz="2000"/>
          </a:p>
          <a:p>
            <a:pPr marL="0" indent="0">
              <a:buNone/>
            </a:pPr>
            <a:r>
              <a:rPr lang="en-US" altLang="en-US" sz="2000"/>
              <a:t>            System.out.println("Both URIs are equal.");</a:t>
            </a:r>
            <a:endParaRPr lang="en-US" altLang="en-US" sz="2000"/>
          </a:p>
          <a:p>
            <a:pPr marL="0" indent="0">
              <a:buNone/>
            </a:pPr>
            <a:r>
              <a:rPr lang="en-US" altLang="en-US" sz="2000"/>
              <a:t>        } else {</a:t>
            </a:r>
            <a:endParaRPr lang="en-US" altLang="en-US" sz="2000"/>
          </a:p>
          <a:p>
            <a:pPr marL="0" indent="0">
              <a:buNone/>
            </a:pPr>
            <a:r>
              <a:rPr lang="en-US" altLang="en-US" sz="2000"/>
              <a:t>            System.out.println("URIs are not equal.");</a:t>
            </a:r>
            <a:endParaRPr lang="en-US" altLang="en-US" sz="2000"/>
          </a:p>
          <a:p>
            <a:pPr marL="0" indent="0">
              <a:buNone/>
            </a:pPr>
            <a:r>
              <a:rPr lang="en-US" altLang="en-US" sz="2000"/>
              <a:t>        }</a:t>
            </a:r>
            <a:endParaRPr lang="en-US" altLang="en-US" sz="20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838200" y="668655"/>
            <a:ext cx="10515600" cy="5508625"/>
          </a:xfrm>
        </p:spPr>
        <p:txBody>
          <a:bodyPr/>
          <a:p>
            <a:r>
              <a:rPr lang="en-US" altLang="en-US" sz="2000"/>
              <a:t>Comparison: Java provides the compareTo() method to compare two URIs lexicographically (alphabetical order of characters). Comparison checks components in this order: </a:t>
            </a:r>
            <a:endParaRPr lang="en-US" altLang="en-US" sz="2000"/>
          </a:p>
          <a:p>
            <a:pPr marL="457200" lvl="1" indent="0">
              <a:buNone/>
            </a:pPr>
            <a:r>
              <a:rPr lang="en-US" altLang="en-US" sz="2000"/>
              <a:t>1. Scheme</a:t>
            </a:r>
            <a:endParaRPr lang="en-US" altLang="en-US" sz="2000"/>
          </a:p>
          <a:p>
            <a:pPr marL="457200" lvl="1" indent="0">
              <a:buNone/>
            </a:pPr>
            <a:r>
              <a:rPr lang="en-US" altLang="en-US" sz="2000"/>
              <a:t>2. Authority</a:t>
            </a:r>
            <a:endParaRPr lang="en-US" altLang="en-US" sz="2000"/>
          </a:p>
          <a:p>
            <a:pPr marL="457200" lvl="1" indent="0">
              <a:buNone/>
            </a:pPr>
            <a:r>
              <a:rPr lang="en-US" altLang="en-US" sz="2000"/>
              <a:t>3. Path</a:t>
            </a:r>
            <a:endParaRPr lang="en-US" altLang="en-US" sz="2000"/>
          </a:p>
          <a:p>
            <a:pPr marL="457200" lvl="1" indent="0">
              <a:buNone/>
            </a:pPr>
            <a:r>
              <a:rPr lang="en-US" altLang="en-US" sz="2000"/>
              <a:t>4. Query</a:t>
            </a:r>
            <a:endParaRPr lang="en-US" altLang="en-US" sz="2000"/>
          </a:p>
          <a:p>
            <a:pPr marL="457200" lvl="1" indent="0">
              <a:buNone/>
            </a:pPr>
            <a:r>
              <a:rPr lang="en-US" altLang="en-US" sz="2000"/>
              <a:t>5. Fragment</a:t>
            </a:r>
            <a:endParaRPr lang="en-US" altLang="en-US" sz="2000"/>
          </a:p>
          <a:p>
            <a:pPr marL="457200" lvl="1" indent="0">
              <a:buNone/>
            </a:pPr>
            <a:r>
              <a:rPr lang="en-US" altLang="en-US" sz="2000"/>
              <a:t>Example :  </a:t>
            </a:r>
            <a:endParaRPr lang="en-US" altLang="en-US" sz="2000"/>
          </a:p>
          <a:p>
            <a:pPr marL="457200" lvl="1" indent="0">
              <a:buNone/>
            </a:pPr>
            <a:r>
              <a:rPr lang="en-US" altLang="en-US" sz="2000"/>
              <a:t>  URI uri1 = new URI("https://example.com/page/index.html");</a:t>
            </a:r>
            <a:endParaRPr lang="en-US" altLang="en-US" sz="2000"/>
          </a:p>
          <a:p>
            <a:pPr marL="457200" lvl="1" indent="0">
              <a:buNone/>
            </a:pPr>
            <a:r>
              <a:rPr lang="en-US" altLang="en-US" sz="2000"/>
              <a:t>URI uri2 = new URI("https://example.com/page/index.html");</a:t>
            </a:r>
            <a:endParaRPr lang="en-US" altLang="en-US" sz="2000"/>
          </a:p>
          <a:p>
            <a:pPr marL="457200" lvl="1" indent="0">
              <a:buNone/>
            </a:pPr>
            <a:r>
              <a:rPr lang="en-US" altLang="en-US" sz="2000"/>
              <a:t>int result = uri1.compareTo(uri2);</a:t>
            </a:r>
            <a:endParaRPr lang="en-US" altLang="en-US" sz="2000"/>
          </a:p>
          <a:p>
            <a:pPr marL="457200" lvl="1" indent="0">
              <a:buNone/>
            </a:pPr>
            <a:r>
              <a:rPr lang="en-US" altLang="en-US" sz="2000"/>
              <a:t>        if (result == 0)</a:t>
            </a:r>
            <a:endParaRPr lang="en-US" altLang="en-US" sz="2000"/>
          </a:p>
          <a:p>
            <a:pPr marL="457200" lvl="1" indent="0">
              <a:buNone/>
            </a:pPr>
            <a:r>
              <a:rPr lang="en-US" altLang="en-US" sz="2000"/>
              <a:t>            System.out.println("URIs are same when compared.");</a:t>
            </a:r>
            <a:endParaRPr lang="en-US" altLang="en-US" sz="2000"/>
          </a:p>
          <a:p>
            <a:pPr marL="457200" lvl="1" indent="0">
              <a:buNone/>
            </a:pPr>
            <a:r>
              <a:rPr lang="en-US" altLang="en-US" sz="2000"/>
              <a:t>        else</a:t>
            </a:r>
            <a:endParaRPr lang="en-US" altLang="en-US" sz="2000"/>
          </a:p>
          <a:p>
            <a:pPr marL="457200" lvl="1" indent="0">
              <a:buNone/>
            </a:pPr>
            <a:r>
              <a:rPr lang="en-US" altLang="en-US" sz="2000"/>
              <a:t>            System.out.println("URIs are different when compared.");</a:t>
            </a:r>
            <a:endParaRPr lang="en-US" altLang="en-US" sz="2000"/>
          </a:p>
          <a:p>
            <a:pPr marL="457200" lvl="1" indent="0">
              <a:buNone/>
            </a:pPr>
            <a:endParaRPr lang="en-US" altLang="en-US" sz="200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sym typeface="+mn-ea"/>
              </a:rPr>
              <a:t>String Representation of URI</a:t>
            </a:r>
            <a:endParaRPr lang="en-US"/>
          </a:p>
        </p:txBody>
      </p:sp>
      <p:sp>
        <p:nvSpPr>
          <p:cNvPr id="3" name="Content Placeholder 2"/>
          <p:cNvSpPr>
            <a:spLocks noGrp="1"/>
          </p:cNvSpPr>
          <p:nvPr>
            <p:ph idx="1"/>
          </p:nvPr>
        </p:nvSpPr>
        <p:spPr/>
        <p:txBody>
          <a:bodyPr/>
          <a:p>
            <a:pPr marL="0" indent="0" algn="just">
              <a:buNone/>
            </a:pPr>
            <a:r>
              <a:rPr lang="en-US" altLang="en-US" sz="2000"/>
              <a:t>Every URI can be converted back into a string using:</a:t>
            </a:r>
            <a:endParaRPr lang="en-US" altLang="en-US" sz="2000"/>
          </a:p>
          <a:p>
            <a:pPr marL="0" indent="0" algn="just">
              <a:buNone/>
            </a:pPr>
            <a:r>
              <a:rPr lang="en-US" altLang="en-US" sz="2000" b="1"/>
              <a:t>toString():</a:t>
            </a:r>
            <a:r>
              <a:rPr lang="en-US" altLang="en-US" sz="2000"/>
              <a:t> Returns the URI in its original form (exactly what was entered).</a:t>
            </a:r>
            <a:endParaRPr lang="en-US" altLang="en-US" sz="2000"/>
          </a:p>
          <a:p>
            <a:pPr marL="0" indent="0" algn="just">
              <a:buNone/>
            </a:pPr>
            <a:r>
              <a:rPr lang="en-US" altLang="en-US" sz="2000" b="1"/>
              <a:t>toASCIIString():</a:t>
            </a:r>
            <a:endParaRPr lang="en-US" altLang="en-US" sz="2000" b="1"/>
          </a:p>
          <a:p>
            <a:pPr algn="just"/>
            <a:r>
              <a:rPr lang="en-US" altLang="en-US" sz="2000"/>
              <a:t> Converts the URI into pure ASCII form.</a:t>
            </a:r>
            <a:endParaRPr lang="en-US" altLang="en-US" sz="2000"/>
          </a:p>
          <a:p>
            <a:pPr algn="just"/>
            <a:r>
              <a:rPr lang="en-US" altLang="en-US" sz="2000"/>
              <a:t>Useful for internationalized domain names (IDN) or non-English characters.</a:t>
            </a:r>
            <a:endParaRPr lang="en-US" altLang="en-US" sz="2000"/>
          </a:p>
          <a:p>
            <a:pPr marL="0" indent="0" algn="just">
              <a:buNone/>
            </a:pPr>
            <a:r>
              <a:rPr lang="en-US" altLang="en-US" sz="2000"/>
              <a:t>Example:</a:t>
            </a:r>
            <a:endParaRPr lang="en-US" altLang="en-US" sz="2000"/>
          </a:p>
          <a:p>
            <a:pPr marL="0" indent="0" algn="just">
              <a:buNone/>
            </a:pPr>
            <a:r>
              <a:rPr lang="en-US" altLang="en-US" sz="2000"/>
              <a:t>URI uri = new URI("https://example.com/home?id=10");</a:t>
            </a:r>
            <a:endParaRPr lang="en-US" altLang="en-US" sz="2000"/>
          </a:p>
          <a:p>
            <a:pPr marL="0" indent="0" algn="just">
              <a:buNone/>
            </a:pPr>
            <a:r>
              <a:rPr lang="en-US" altLang="en-US" sz="2000"/>
              <a:t>System.out.println(uri.toString());       </a:t>
            </a:r>
            <a:endParaRPr lang="en-US" altLang="en-US" sz="2000"/>
          </a:p>
          <a:p>
            <a:pPr marL="0" indent="0" algn="just">
              <a:buNone/>
            </a:pPr>
            <a:r>
              <a:rPr lang="en-US" altLang="en-US" sz="2000"/>
              <a:t>System.out.println(uri.toASCIIString());</a:t>
            </a:r>
            <a:endParaRPr lang="en-US" altLang="en-US" sz="200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t>URL Encoder and URL Decoder</a:t>
            </a:r>
            <a:endParaRPr lang="en-US" altLang="en-US"/>
          </a:p>
        </p:txBody>
      </p:sp>
      <p:sp>
        <p:nvSpPr>
          <p:cNvPr id="3" name="Content Placeholder 2"/>
          <p:cNvSpPr>
            <a:spLocks noGrp="1"/>
          </p:cNvSpPr>
          <p:nvPr>
            <p:ph idx="1"/>
          </p:nvPr>
        </p:nvSpPr>
        <p:spPr/>
        <p:txBody>
          <a:bodyPr/>
          <a:p>
            <a:r>
              <a:rPr lang="en-US" sz="2000" b="1"/>
              <a:t>URL Encoder:</a:t>
            </a:r>
            <a:r>
              <a:rPr lang="en-US" sz="2000"/>
              <a:t> </a:t>
            </a:r>
            <a:r>
              <a:rPr lang="en-US" altLang="en-US" sz="2000"/>
              <a:t>URL Encoder is a mechanism used to convert characters into a format that is safe for transmission in a URL. A URL can only contain certain characters (letters, digits, and a few symbols). Characters such as spaces, punctuation marks, and non-ASCII characters cannot appear directly in a URL. Therefore, encoding replaces unsafe characters with a special code that begins with % followed by two hexadecimal digits. For example, a space becomes %20 and @ becomes %40. In Java, URL encoding is performed using:</a:t>
            </a:r>
            <a:endParaRPr lang="en-US" altLang="en-US" sz="2000"/>
          </a:p>
          <a:p>
            <a:pPr marL="0" indent="0">
              <a:buNone/>
            </a:pPr>
            <a:r>
              <a:rPr lang="en-US" altLang="en-US" sz="2000"/>
              <a:t> </a:t>
            </a:r>
            <a:endParaRPr lang="en-US" altLang="en-US" sz="2000"/>
          </a:p>
          <a:p>
            <a:pPr marL="0" indent="0">
              <a:buNone/>
            </a:pPr>
            <a:r>
              <a:rPr lang="en-US" altLang="en-US" sz="2000"/>
              <a:t>   String text = "Hello World @ Java";</a:t>
            </a:r>
            <a:endParaRPr lang="en-US" altLang="en-US" sz="2000"/>
          </a:p>
          <a:p>
            <a:pPr marL="0" indent="0">
              <a:buNone/>
            </a:pPr>
            <a:r>
              <a:rPr lang="en-US" altLang="en-US" sz="2000" b="1"/>
              <a:t>    URLEncoder.encode(text, "UTF-8")</a:t>
            </a:r>
            <a:endParaRPr lang="en-US" altLang="en-US" sz="2000" b="1"/>
          </a:p>
          <a:p>
            <a:pPr marL="0" indent="457200">
              <a:buNone/>
            </a:pPr>
            <a:endParaRPr lang="en-US" altLang="en-US" sz="2000" b="1"/>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p:txBody>
          <a:bodyPr/>
          <a:p>
            <a:pPr marL="0" indent="0" algn="just">
              <a:buNone/>
            </a:pPr>
            <a:r>
              <a:rPr lang="en-US" altLang="en-US" sz="2000" b="1"/>
              <a:t>URL Decoder:</a:t>
            </a:r>
            <a:endParaRPr lang="en-US" altLang="en-US" sz="2000"/>
          </a:p>
          <a:p>
            <a:pPr algn="just"/>
            <a:r>
              <a:rPr lang="en-US" altLang="en-US" sz="2000"/>
              <a:t>URL Decoder performs the reverse operation of encoding. It converts encoded characters back into their original form. When a web server receives an encoded URL, decoding is required to interpret the actual text. In Java, URL decoding is done using:</a:t>
            </a:r>
            <a:endParaRPr lang="en-US" altLang="en-US" sz="2000"/>
          </a:p>
          <a:p>
            <a:pPr marL="0" indent="0" algn="just">
              <a:buNone/>
            </a:pPr>
            <a:r>
              <a:rPr lang="en-US" altLang="en-US" sz="2000"/>
              <a:t>   URLDecoder.decode(text, "UTF-8")</a:t>
            </a:r>
            <a:endParaRPr lang="en-US" altLang="en-US" sz="200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Proxy</a:t>
            </a:r>
            <a:endParaRPr lang="en-US"/>
          </a:p>
        </p:txBody>
      </p:sp>
      <p:sp>
        <p:nvSpPr>
          <p:cNvPr id="3" name="Content Placeholder 2"/>
          <p:cNvSpPr>
            <a:spLocks noGrp="1"/>
          </p:cNvSpPr>
          <p:nvPr>
            <p:ph idx="1"/>
          </p:nvPr>
        </p:nvSpPr>
        <p:spPr>
          <a:xfrm>
            <a:off x="658495" y="1691640"/>
            <a:ext cx="10695305" cy="4583430"/>
          </a:xfrm>
        </p:spPr>
        <p:txBody>
          <a:bodyPr>
            <a:normAutofit fontScale="90000"/>
          </a:bodyPr>
          <a:p>
            <a:r>
              <a:rPr lang="en-US" altLang="en-US"/>
              <a:t>A proxy is an intermediary that acts between a user (client) and another system (server). Instead of your device communicating directly with a website or service, the request goes through the proxy, which then forwards it to the destination and returns the response.</a:t>
            </a:r>
            <a:endParaRPr lang="en-US" altLang="en-US"/>
          </a:p>
          <a:p>
            <a:pPr marL="0" indent="0">
              <a:buNone/>
            </a:pPr>
            <a:r>
              <a:rPr lang="en-US" altLang="en-US" b="1"/>
              <a:t>Why proxies are used</a:t>
            </a:r>
            <a:endParaRPr lang="en-US" altLang="en-US" b="1"/>
          </a:p>
          <a:p>
            <a:pPr marL="0" indent="0">
              <a:buNone/>
            </a:pPr>
            <a:r>
              <a:rPr lang="en-US" altLang="en-US"/>
              <a:t>Privacy: Hides the client’s real IP address.</a:t>
            </a:r>
            <a:endParaRPr lang="en-US" altLang="en-US"/>
          </a:p>
          <a:p>
            <a:pPr marL="0" indent="0">
              <a:buNone/>
            </a:pPr>
            <a:r>
              <a:rPr lang="en-US" altLang="en-US"/>
              <a:t>Security: Filters harmful content and blocks malicious sites.</a:t>
            </a:r>
            <a:endParaRPr lang="en-US" altLang="en-US"/>
          </a:p>
          <a:p>
            <a:pPr marL="0" indent="0">
              <a:buNone/>
            </a:pPr>
            <a:r>
              <a:rPr lang="en-US" altLang="en-US"/>
              <a:t>Access control: Restricts or allows access to specific websites.</a:t>
            </a:r>
            <a:endParaRPr lang="en-US" altLang="en-US"/>
          </a:p>
          <a:p>
            <a:pPr marL="0" indent="0">
              <a:buNone/>
            </a:pPr>
            <a:r>
              <a:rPr lang="en-US" altLang="en-US"/>
              <a:t>Performance: Caches data to load frequently accessed content faster.</a:t>
            </a:r>
            <a:endParaRPr lang="en-US" altLang="en-US"/>
          </a:p>
          <a:p>
            <a:pPr marL="0" indent="0">
              <a:buNone/>
            </a:pPr>
            <a:r>
              <a:rPr lang="en-US" altLang="en-US"/>
              <a:t>Monitoring: Tracks and logs internet usage (common in schools and offices).</a:t>
            </a:r>
            <a:endParaRPr lang="en-US" alt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838200" y="226060"/>
            <a:ext cx="10515600" cy="6261100"/>
          </a:xfrm>
        </p:spPr>
        <p:txBody>
          <a:bodyPr>
            <a:normAutofit fontScale="75000"/>
          </a:bodyPr>
          <a:p>
            <a:pPr marL="0" indent="0">
              <a:buNone/>
            </a:pPr>
            <a:r>
              <a:rPr lang="en-US" altLang="en-US">
                <a:latin typeface="Times New Roman" panose="02020603050405020304" charset="0"/>
                <a:cs typeface="Times New Roman" panose="02020603050405020304" charset="0"/>
              </a:rPr>
              <a:t> static class LocalProxySelector extends ProxySelector{</a:t>
            </a:r>
            <a:endParaRPr lang="en-US" altLang="en-US">
              <a:latin typeface="Times New Roman" panose="02020603050405020304" charset="0"/>
              <a:cs typeface="Times New Roman" panose="02020603050405020304" charset="0"/>
            </a:endParaRPr>
          </a:p>
          <a:p>
            <a:pPr marL="0" indent="0">
              <a:buNone/>
            </a:pPr>
            <a:r>
              <a:rPr lang="en-US" altLang="en-US">
                <a:latin typeface="Times New Roman" panose="02020603050405020304" charset="0"/>
                <a:cs typeface="Times New Roman" panose="02020603050405020304" charset="0"/>
              </a:rPr>
              <a:t>        public final String proxyHost;</a:t>
            </a:r>
            <a:endParaRPr lang="en-US" altLang="en-US">
              <a:latin typeface="Times New Roman" panose="02020603050405020304" charset="0"/>
              <a:cs typeface="Times New Roman" panose="02020603050405020304" charset="0"/>
            </a:endParaRPr>
          </a:p>
          <a:p>
            <a:pPr marL="0" indent="0">
              <a:buNone/>
            </a:pPr>
            <a:r>
              <a:rPr lang="en-US" altLang="en-US">
                <a:latin typeface="Times New Roman" panose="02020603050405020304" charset="0"/>
                <a:cs typeface="Times New Roman" panose="02020603050405020304" charset="0"/>
              </a:rPr>
              <a:t>        public final int proxyPort ;</a:t>
            </a:r>
            <a:endParaRPr lang="en-US" altLang="en-US">
              <a:latin typeface="Times New Roman" panose="02020603050405020304" charset="0"/>
              <a:cs typeface="Times New Roman" panose="02020603050405020304" charset="0"/>
            </a:endParaRPr>
          </a:p>
          <a:p>
            <a:pPr marL="0" indent="0">
              <a:buNone/>
            </a:pPr>
            <a:r>
              <a:rPr lang="en-US" altLang="en-US">
                <a:latin typeface="Times New Roman" panose="02020603050405020304" charset="0"/>
                <a:cs typeface="Times New Roman" panose="02020603050405020304" charset="0"/>
              </a:rPr>
              <a:t>        public final List&lt;URI&gt; faild= new ArrayList&lt;URI&gt;();</a:t>
            </a:r>
            <a:endParaRPr lang="en-US" altLang="en-US">
              <a:latin typeface="Times New Roman" panose="02020603050405020304" charset="0"/>
              <a:cs typeface="Times New Roman" panose="02020603050405020304" charset="0"/>
            </a:endParaRPr>
          </a:p>
          <a:p>
            <a:pPr marL="0" indent="0">
              <a:buNone/>
            </a:pPr>
            <a:r>
              <a:rPr lang="en-US" altLang="en-US">
                <a:latin typeface="Times New Roman" panose="02020603050405020304" charset="0"/>
                <a:cs typeface="Times New Roman" panose="02020603050405020304" charset="0"/>
              </a:rPr>
              <a:t>        public LocalProxySelector(String proxyHost,int proxyPort){</a:t>
            </a:r>
            <a:endParaRPr lang="en-US" altLang="en-US">
              <a:latin typeface="Times New Roman" panose="02020603050405020304" charset="0"/>
              <a:cs typeface="Times New Roman" panose="02020603050405020304" charset="0"/>
            </a:endParaRPr>
          </a:p>
          <a:p>
            <a:pPr marL="0" indent="0">
              <a:buNone/>
            </a:pPr>
            <a:r>
              <a:rPr lang="en-US" altLang="en-US">
                <a:latin typeface="Times New Roman" panose="02020603050405020304" charset="0"/>
                <a:cs typeface="Times New Roman" panose="02020603050405020304" charset="0"/>
              </a:rPr>
              <a:t>            this.proxyHost=proxyHost;</a:t>
            </a:r>
            <a:endParaRPr lang="en-US" altLang="en-US">
              <a:latin typeface="Times New Roman" panose="02020603050405020304" charset="0"/>
              <a:cs typeface="Times New Roman" panose="02020603050405020304" charset="0"/>
            </a:endParaRPr>
          </a:p>
          <a:p>
            <a:pPr marL="0" indent="0">
              <a:buNone/>
            </a:pPr>
            <a:r>
              <a:rPr lang="en-US" altLang="en-US">
                <a:latin typeface="Times New Roman" panose="02020603050405020304" charset="0"/>
                <a:cs typeface="Times New Roman" panose="02020603050405020304" charset="0"/>
              </a:rPr>
              <a:t>            this.proxyPort=proxyPort;</a:t>
            </a:r>
            <a:endParaRPr lang="en-US" altLang="en-US">
              <a:latin typeface="Times New Roman" panose="02020603050405020304" charset="0"/>
              <a:cs typeface="Times New Roman" panose="02020603050405020304" charset="0"/>
            </a:endParaRPr>
          </a:p>
          <a:p>
            <a:pPr marL="0" indent="0">
              <a:buNone/>
            </a:pPr>
            <a:r>
              <a:rPr lang="en-US" altLang="en-US">
                <a:latin typeface="Times New Roman" panose="02020603050405020304" charset="0"/>
                <a:cs typeface="Times New Roman" panose="02020603050405020304" charset="0"/>
              </a:rPr>
              <a:t>        }         List&lt;Proxy&gt; proxyList=new ArrayList&lt;Proxy&gt;();</a:t>
            </a:r>
            <a:endParaRPr lang="en-US" altLang="en-US">
              <a:latin typeface="Times New Roman" panose="02020603050405020304" charset="0"/>
              <a:cs typeface="Times New Roman" panose="02020603050405020304" charset="0"/>
            </a:endParaRPr>
          </a:p>
          <a:p>
            <a:pPr marL="0" indent="0">
              <a:buNone/>
            </a:pPr>
            <a:r>
              <a:rPr lang="en-US" altLang="en-US">
                <a:latin typeface="Times New Roman" panose="02020603050405020304" charset="0"/>
                <a:cs typeface="Times New Roman" panose="02020603050405020304" charset="0"/>
              </a:rPr>
              <a:t>        @Override</a:t>
            </a:r>
            <a:endParaRPr lang="en-US" altLang="en-US">
              <a:latin typeface="Times New Roman" panose="02020603050405020304" charset="0"/>
              <a:cs typeface="Times New Roman" panose="02020603050405020304" charset="0"/>
            </a:endParaRPr>
          </a:p>
          <a:p>
            <a:pPr marL="0" indent="0">
              <a:buNone/>
            </a:pPr>
            <a:r>
              <a:rPr lang="en-US" altLang="en-US">
                <a:latin typeface="Times New Roman" panose="02020603050405020304" charset="0"/>
                <a:cs typeface="Times New Roman" panose="02020603050405020304" charset="0"/>
              </a:rPr>
              <a:t>        public List&lt;Proxy&gt; select(URI uri) {</a:t>
            </a:r>
            <a:endParaRPr lang="en-US" altLang="en-US">
              <a:latin typeface="Times New Roman" panose="02020603050405020304" charset="0"/>
              <a:cs typeface="Times New Roman" panose="02020603050405020304" charset="0"/>
            </a:endParaRPr>
          </a:p>
          <a:p>
            <a:pPr marL="0" indent="0">
              <a:buNone/>
            </a:pPr>
            <a:r>
              <a:rPr lang="en-US" altLang="en-US">
                <a:latin typeface="Times New Roman" panose="02020603050405020304" charset="0"/>
                <a:cs typeface="Times New Roman" panose="02020603050405020304" charset="0"/>
              </a:rPr>
              <a:t>           if(uri==null){    throw new IllegalArgumentException("uri can't be null");</a:t>
            </a:r>
            <a:endParaRPr lang="en-US" altLang="en-US">
              <a:latin typeface="Times New Roman" panose="02020603050405020304" charset="0"/>
              <a:cs typeface="Times New Roman" panose="02020603050405020304" charset="0"/>
            </a:endParaRPr>
          </a:p>
          <a:p>
            <a:pPr marL="0" indent="0">
              <a:buNone/>
            </a:pPr>
            <a:r>
              <a:rPr lang="en-US" altLang="en-US">
                <a:latin typeface="Times New Roman" panose="02020603050405020304" charset="0"/>
                <a:cs typeface="Times New Roman" panose="02020603050405020304" charset="0"/>
              </a:rPr>
              <a:t>           }   if (proxyHost == null || proxyHost.isEmpty()) {</a:t>
            </a:r>
            <a:endParaRPr lang="en-US" altLang="en-US">
              <a:latin typeface="Times New Roman" panose="02020603050405020304" charset="0"/>
              <a:cs typeface="Times New Roman" panose="02020603050405020304" charset="0"/>
            </a:endParaRPr>
          </a:p>
          <a:p>
            <a:pPr marL="0" indent="0">
              <a:buNone/>
            </a:pPr>
            <a:r>
              <a:rPr lang="en-US" altLang="en-US">
                <a:latin typeface="Times New Roman" panose="02020603050405020304" charset="0"/>
                <a:cs typeface="Times New Roman" panose="02020603050405020304" charset="0"/>
              </a:rPr>
              <a:t>                return Collections.singletonList(Proxy.NO_PROXY);  }</a:t>
            </a:r>
            <a:endParaRPr lang="en-US" altLang="en-US">
              <a:latin typeface="Times New Roman" panose="02020603050405020304" charset="0"/>
              <a:cs typeface="Times New Roman" panose="02020603050405020304" charset="0"/>
            </a:endParaRPr>
          </a:p>
          <a:p>
            <a:pPr marL="0" indent="0">
              <a:buNone/>
            </a:pPr>
            <a:r>
              <a:rPr lang="en-US" altLang="en-US">
                <a:latin typeface="Times New Roman" panose="02020603050405020304" charset="0"/>
                <a:cs typeface="Times New Roman" panose="02020603050405020304" charset="0"/>
              </a:rPr>
              <a:t>           SocketAddress proxyAddress=new InetSocketAddress(proxyHost,proxyPort);  </a:t>
            </a:r>
            <a:endParaRPr lang="en-US" altLang="en-US">
              <a:latin typeface="Times New Roman" panose="02020603050405020304" charset="0"/>
              <a:cs typeface="Times New Roman" panose="02020603050405020304" charset="0"/>
            </a:endParaRPr>
          </a:p>
          <a:p>
            <a:pPr marL="0" indent="0">
              <a:buNone/>
            </a:pPr>
            <a:r>
              <a:rPr lang="en-US" altLang="en-US">
                <a:latin typeface="Times New Roman" panose="02020603050405020304" charset="0"/>
                <a:cs typeface="Times New Roman" panose="02020603050405020304" charset="0"/>
              </a:rPr>
              <a:t>          </a:t>
            </a:r>
            <a:endParaRPr lang="en-US" altLang="en-US">
              <a:latin typeface="Times New Roman" panose="02020603050405020304" charset="0"/>
              <a:cs typeface="Times New Roman" panose="02020603050405020304"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838200" y="454025"/>
            <a:ext cx="10515600" cy="5723255"/>
          </a:xfrm>
        </p:spPr>
        <p:txBody>
          <a:bodyPr>
            <a:normAutofit fontScale="80000"/>
          </a:bodyPr>
          <a:p>
            <a:pPr marL="0" indent="0">
              <a:buNone/>
            </a:pPr>
            <a:r>
              <a:rPr lang="en-US" altLang="en-US">
                <a:latin typeface="Times New Roman" panose="02020603050405020304" charset="0"/>
                <a:cs typeface="Times New Roman" panose="02020603050405020304" charset="0"/>
                <a:sym typeface="+mn-ea"/>
              </a:rPr>
              <a:t> Proxy proxy=new Proxy(Proxy.Type.HTTP, proxyAddress);</a:t>
            </a:r>
            <a:endParaRPr lang="en-US" altLang="en-US">
              <a:latin typeface="Times New Roman" panose="02020603050405020304" charset="0"/>
              <a:cs typeface="Times New Roman" panose="02020603050405020304" charset="0"/>
            </a:endParaRPr>
          </a:p>
          <a:p>
            <a:pPr marL="0" indent="0">
              <a:buNone/>
            </a:pPr>
            <a:r>
              <a:rPr lang="en-US" altLang="en-US">
                <a:latin typeface="Times New Roman" panose="02020603050405020304" charset="0"/>
                <a:cs typeface="Times New Roman" panose="02020603050405020304" charset="0"/>
                <a:sym typeface="+mn-ea"/>
              </a:rPr>
              <a:t>           proxyList.add(proxy);</a:t>
            </a:r>
            <a:endParaRPr lang="en-US" altLang="en-US">
              <a:latin typeface="Times New Roman" panose="02020603050405020304" charset="0"/>
              <a:cs typeface="Times New Roman" panose="02020603050405020304" charset="0"/>
            </a:endParaRPr>
          </a:p>
          <a:p>
            <a:pPr marL="0" indent="0">
              <a:buNone/>
            </a:pPr>
            <a:r>
              <a:rPr lang="en-US" altLang="en-US">
                <a:latin typeface="Times New Roman" panose="02020603050405020304" charset="0"/>
                <a:cs typeface="Times New Roman" panose="02020603050405020304" charset="0"/>
                <a:sym typeface="+mn-ea"/>
              </a:rPr>
              <a:t>           return proxyList;</a:t>
            </a:r>
            <a:endParaRPr lang="en-US" altLang="en-US">
              <a:latin typeface="Times New Roman" panose="02020603050405020304" charset="0"/>
              <a:cs typeface="Times New Roman" panose="02020603050405020304" charset="0"/>
            </a:endParaRPr>
          </a:p>
          <a:p>
            <a:pPr marL="0" indent="0">
              <a:buNone/>
            </a:pPr>
            <a:r>
              <a:rPr lang="en-US" altLang="en-US">
                <a:latin typeface="Times New Roman" panose="02020603050405020304" charset="0"/>
                <a:cs typeface="Times New Roman" panose="02020603050405020304" charset="0"/>
                <a:sym typeface="+mn-ea"/>
              </a:rPr>
              <a:t>        }</a:t>
            </a:r>
            <a:endParaRPr lang="en-US" altLang="en-US">
              <a:latin typeface="Times New Roman" panose="02020603050405020304" charset="0"/>
              <a:cs typeface="Times New Roman" panose="02020603050405020304" charset="0"/>
            </a:endParaRPr>
          </a:p>
          <a:p>
            <a:pPr marL="0" indent="0">
              <a:buNone/>
            </a:pPr>
            <a:r>
              <a:rPr lang="en-US" altLang="en-US">
                <a:latin typeface="Times New Roman" panose="02020603050405020304" charset="0"/>
                <a:cs typeface="Times New Roman" panose="02020603050405020304" charset="0"/>
                <a:sym typeface="+mn-ea"/>
              </a:rPr>
              <a:t>        @Override</a:t>
            </a:r>
            <a:endParaRPr lang="en-US" altLang="en-US">
              <a:latin typeface="Times New Roman" panose="02020603050405020304" charset="0"/>
              <a:cs typeface="Times New Roman" panose="02020603050405020304" charset="0"/>
            </a:endParaRPr>
          </a:p>
          <a:p>
            <a:pPr marL="0" indent="0">
              <a:buNone/>
            </a:pPr>
            <a:r>
              <a:rPr lang="en-US" altLang="en-US">
                <a:latin typeface="Times New Roman" panose="02020603050405020304" charset="0"/>
                <a:cs typeface="Times New Roman" panose="02020603050405020304" charset="0"/>
                <a:sym typeface="+mn-ea"/>
              </a:rPr>
              <a:t>        public void connectFailed(URI uri, SocketAddress sa, IOException ioe) {</a:t>
            </a:r>
            <a:endParaRPr lang="en-US" altLang="en-US">
              <a:latin typeface="Times New Roman" panose="02020603050405020304" charset="0"/>
              <a:cs typeface="Times New Roman" panose="02020603050405020304" charset="0"/>
            </a:endParaRPr>
          </a:p>
          <a:p>
            <a:pPr marL="0" indent="0">
              <a:buNone/>
            </a:pPr>
            <a:r>
              <a:rPr lang="en-US" altLang="en-US">
                <a:latin typeface="Times New Roman" panose="02020603050405020304" charset="0"/>
                <a:cs typeface="Times New Roman" panose="02020603050405020304" charset="0"/>
                <a:sym typeface="+mn-ea"/>
              </a:rPr>
              <a:t>            if(sa!=null){</a:t>
            </a:r>
            <a:endParaRPr lang="en-US" altLang="en-US">
              <a:latin typeface="Times New Roman" panose="02020603050405020304" charset="0"/>
              <a:cs typeface="Times New Roman" panose="02020603050405020304" charset="0"/>
            </a:endParaRPr>
          </a:p>
          <a:p>
            <a:pPr marL="0" indent="0">
              <a:buNone/>
            </a:pPr>
            <a:r>
              <a:rPr lang="en-US" altLang="en-US">
                <a:latin typeface="Times New Roman" panose="02020603050405020304" charset="0"/>
                <a:cs typeface="Times New Roman" panose="02020603050405020304" charset="0"/>
                <a:sym typeface="+mn-ea"/>
              </a:rPr>
              <a:t>                synchronized(faild){</a:t>
            </a:r>
            <a:endParaRPr lang="en-US" altLang="en-US">
              <a:latin typeface="Times New Roman" panose="02020603050405020304" charset="0"/>
              <a:cs typeface="Times New Roman" panose="02020603050405020304" charset="0"/>
            </a:endParaRPr>
          </a:p>
          <a:p>
            <a:pPr marL="0" indent="0">
              <a:buNone/>
            </a:pPr>
            <a:r>
              <a:rPr lang="en-US" altLang="en-US">
                <a:latin typeface="Times New Roman" panose="02020603050405020304" charset="0"/>
                <a:cs typeface="Times New Roman" panose="02020603050405020304" charset="0"/>
                <a:sym typeface="+mn-ea"/>
              </a:rPr>
              <a:t>                    if(faild.contains(uri)){</a:t>
            </a:r>
            <a:endParaRPr lang="en-US" altLang="en-US">
              <a:latin typeface="Times New Roman" panose="02020603050405020304" charset="0"/>
              <a:cs typeface="Times New Roman" panose="02020603050405020304" charset="0"/>
            </a:endParaRPr>
          </a:p>
          <a:p>
            <a:pPr marL="0" indent="0">
              <a:buNone/>
            </a:pPr>
            <a:r>
              <a:rPr lang="en-US" altLang="en-US">
                <a:latin typeface="Times New Roman" panose="02020603050405020304" charset="0"/>
                <a:cs typeface="Times New Roman" panose="02020603050405020304" charset="0"/>
                <a:sym typeface="+mn-ea"/>
              </a:rPr>
              <a:t>                        faild.add(uri);</a:t>
            </a:r>
            <a:endParaRPr lang="en-US" altLang="en-US">
              <a:latin typeface="Times New Roman" panose="02020603050405020304" charset="0"/>
              <a:cs typeface="Times New Roman" panose="02020603050405020304" charset="0"/>
            </a:endParaRPr>
          </a:p>
          <a:p>
            <a:pPr marL="0" indent="0">
              <a:buNone/>
            </a:pPr>
            <a:r>
              <a:rPr lang="en-US" altLang="en-US">
                <a:latin typeface="Times New Roman" panose="02020603050405020304" charset="0"/>
                <a:cs typeface="Times New Roman" panose="02020603050405020304" charset="0"/>
                <a:sym typeface="+mn-ea"/>
              </a:rPr>
              <a:t>                        proxyList.add(Proxy.NO_PROXY);</a:t>
            </a:r>
            <a:endParaRPr lang="en-US" altLang="en-US">
              <a:latin typeface="Times New Roman" panose="02020603050405020304" charset="0"/>
              <a:cs typeface="Times New Roman" panose="02020603050405020304" charset="0"/>
            </a:endParaRPr>
          </a:p>
          <a:p>
            <a:pPr marL="0" indent="0">
              <a:buNone/>
            </a:pPr>
            <a:r>
              <a:rPr lang="en-US" altLang="en-US">
                <a:latin typeface="Times New Roman" panose="02020603050405020304" charset="0"/>
                <a:cs typeface="Times New Roman" panose="02020603050405020304" charset="0"/>
                <a:sym typeface="+mn-ea"/>
              </a:rPr>
              <a:t>                    }</a:t>
            </a:r>
            <a:endParaRPr lang="en-US" altLang="en-US">
              <a:latin typeface="Times New Roman" panose="02020603050405020304" charset="0"/>
              <a:cs typeface="Times New Roman" panose="02020603050405020304" charset="0"/>
            </a:endParaRPr>
          </a:p>
          <a:p>
            <a:pPr marL="0" indent="0">
              <a:buNone/>
            </a:pPr>
            <a:r>
              <a:rPr lang="en-US" altLang="en-US">
                <a:latin typeface="Times New Roman" panose="02020603050405020304" charset="0"/>
                <a:cs typeface="Times New Roman" panose="02020603050405020304" charset="0"/>
                <a:sym typeface="+mn-ea"/>
              </a:rPr>
              <a:t>                }   }   } }</a:t>
            </a:r>
            <a:endParaRPr lang="en-US" altLang="en-US">
              <a:latin typeface="Times New Roman" panose="02020603050405020304" charset="0"/>
              <a:cs typeface="Times New Roman" panose="02020603050405020304" charset="0"/>
            </a:endParaRPr>
          </a:p>
          <a:p>
            <a:endParaRPr lang="en-US">
              <a:latin typeface="Times New Roman" panose="02020603050405020304" charset="0"/>
              <a:cs typeface="Times New Roman" panose="02020603050405020304"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fontScale="90000"/>
          </a:bodyPr>
          <a:p>
            <a:r>
              <a:rPr lang="en-US"/>
              <a:t>Communicating with Server-side Programs throgh get </a:t>
            </a:r>
            <a:endParaRPr lang="en-US"/>
          </a:p>
        </p:txBody>
      </p:sp>
      <p:sp>
        <p:nvSpPr>
          <p:cNvPr id="3" name="Content Placeholder 2"/>
          <p:cNvSpPr>
            <a:spLocks noGrp="1"/>
          </p:cNvSpPr>
          <p:nvPr>
            <p:ph idx="1"/>
          </p:nvPr>
        </p:nvSpPr>
        <p:spPr>
          <a:xfrm>
            <a:off x="838200" y="1691005"/>
            <a:ext cx="10515600" cy="4486275"/>
          </a:xfrm>
        </p:spPr>
        <p:txBody>
          <a:bodyPr>
            <a:normAutofit fontScale="80000"/>
          </a:bodyPr>
          <a:p>
            <a:r>
              <a:rPr lang="en-US" altLang="en-US">
                <a:latin typeface="Times New Roman" panose="02020603050405020304" charset="0"/>
                <a:cs typeface="Times New Roman" panose="02020603050405020304" charset="0"/>
              </a:rPr>
              <a:t>GET is an HTTP method used by a client (browser or program) to request data from a server-side program. The request sends data as URL parameters, and the server processes them and returns a response.</a:t>
            </a:r>
            <a:endParaRPr lang="en-US" altLang="en-US">
              <a:latin typeface="Times New Roman" panose="02020603050405020304" charset="0"/>
              <a:cs typeface="Times New Roman" panose="02020603050405020304" charset="0"/>
            </a:endParaRPr>
          </a:p>
          <a:p>
            <a:pPr marL="0" indent="0">
              <a:buNone/>
            </a:pPr>
            <a:endParaRPr lang="en-US" altLang="en-US">
              <a:latin typeface="Times New Roman" panose="02020603050405020304" charset="0"/>
              <a:cs typeface="Times New Roman" panose="02020603050405020304" charset="0"/>
            </a:endParaRPr>
          </a:p>
          <a:p>
            <a:pPr marL="0" indent="0">
              <a:buNone/>
            </a:pPr>
            <a:r>
              <a:rPr lang="en-US" altLang="en-US">
                <a:latin typeface="Times New Roman" panose="02020603050405020304" charset="0"/>
                <a:cs typeface="Times New Roman" panose="02020603050405020304" charset="0"/>
              </a:rPr>
              <a:t>&lt;form name="search" action="http://www.google.com/search" method="get"&gt;</a:t>
            </a:r>
            <a:endParaRPr lang="en-US" altLang="en-US">
              <a:latin typeface="Times New Roman" panose="02020603050405020304" charset="0"/>
              <a:cs typeface="Times New Roman" panose="02020603050405020304" charset="0"/>
            </a:endParaRPr>
          </a:p>
          <a:p>
            <a:pPr marL="0" indent="0">
              <a:buNone/>
            </a:pPr>
            <a:r>
              <a:rPr lang="en-US" altLang="en-US">
                <a:latin typeface="Times New Roman" panose="02020603050405020304" charset="0"/>
                <a:cs typeface="Times New Roman" panose="02020603050405020304" charset="0"/>
              </a:rPr>
              <a:t> &lt;input name="q" /&gt; &lt;input type="hidden" value="cafeconleche.org" name="domains" /&gt;</a:t>
            </a:r>
            <a:endParaRPr lang="en-US" altLang="en-US">
              <a:latin typeface="Times New Roman" panose="02020603050405020304" charset="0"/>
              <a:cs typeface="Times New Roman" panose="02020603050405020304" charset="0"/>
            </a:endParaRPr>
          </a:p>
          <a:p>
            <a:pPr marL="0" indent="0">
              <a:buNone/>
            </a:pPr>
            <a:r>
              <a:rPr lang="en-US" altLang="en-US">
                <a:latin typeface="Times New Roman" panose="02020603050405020304" charset="0"/>
                <a:cs typeface="Times New Roman" panose="02020603050405020304" charset="0"/>
              </a:rPr>
              <a:t> &lt;input type="hidden" name="sitesearch" value="cafeconleche.org" /&gt;</a:t>
            </a:r>
            <a:endParaRPr lang="en-US" altLang="en-US">
              <a:latin typeface="Times New Roman" panose="02020603050405020304" charset="0"/>
              <a:cs typeface="Times New Roman" panose="02020603050405020304" charset="0"/>
            </a:endParaRPr>
          </a:p>
          <a:p>
            <a:pPr marL="0" indent="0">
              <a:buNone/>
            </a:pPr>
            <a:r>
              <a:rPr lang="en-US" altLang="en-US">
                <a:latin typeface="Times New Roman" panose="02020603050405020304" charset="0"/>
                <a:cs typeface="Times New Roman" panose="02020603050405020304" charset="0"/>
              </a:rPr>
              <a:t> &lt;input type="hidden" name="sitesearch2" value="cafeconleche.org" /&gt;</a:t>
            </a:r>
            <a:endParaRPr lang="en-US" altLang="en-US">
              <a:latin typeface="Times New Roman" panose="02020603050405020304" charset="0"/>
              <a:cs typeface="Times New Roman" panose="02020603050405020304" charset="0"/>
            </a:endParaRPr>
          </a:p>
          <a:p>
            <a:pPr marL="0" indent="0">
              <a:buNone/>
            </a:pPr>
            <a:r>
              <a:rPr lang="en-US" altLang="en-US">
                <a:latin typeface="Times New Roman" panose="02020603050405020304" charset="0"/>
                <a:cs typeface="Times New Roman" panose="02020603050405020304" charset="0"/>
              </a:rPr>
              <a:t>  &lt;input type="image" height="22" width="55" src="images/search_blue.gif" alt="search" border="0" name="search-image" /&gt;</a:t>
            </a:r>
            <a:endParaRPr lang="en-US" altLang="en-US">
              <a:latin typeface="Times New Roman" panose="02020603050405020304" charset="0"/>
              <a:cs typeface="Times New Roman" panose="02020603050405020304" charset="0"/>
            </a:endParaRPr>
          </a:p>
          <a:p>
            <a:pPr marL="0" indent="0">
              <a:buNone/>
            </a:pPr>
            <a:r>
              <a:rPr lang="en-US" altLang="en-US">
                <a:latin typeface="Times New Roman" panose="02020603050405020304" charset="0"/>
                <a:cs typeface="Times New Roman" panose="02020603050405020304" charset="0"/>
              </a:rPr>
              <a:t>&lt;/form&gt;</a:t>
            </a:r>
            <a:endParaRPr lang="en-US" altLang="en-US">
              <a:latin typeface="Times New Roman" panose="02020603050405020304" charset="0"/>
              <a:cs typeface="Times New Roman" panose="02020603050405020304"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Accessing Password-Protected Sites</a:t>
            </a:r>
            <a:endParaRPr lang="en-US"/>
          </a:p>
        </p:txBody>
      </p:sp>
      <p:sp>
        <p:nvSpPr>
          <p:cNvPr id="3" name="Content Placeholder 2"/>
          <p:cNvSpPr>
            <a:spLocks noGrp="1"/>
          </p:cNvSpPr>
          <p:nvPr>
            <p:ph idx="1"/>
          </p:nvPr>
        </p:nvSpPr>
        <p:spPr/>
        <p:txBody>
          <a:bodyPr>
            <a:normAutofit/>
          </a:bodyPr>
          <a:p>
            <a:r>
              <a:rPr lang="en-US" altLang="en-US">
                <a:latin typeface="Times New Roman" panose="02020603050405020304" charset="0"/>
                <a:cs typeface="Times New Roman" panose="02020603050405020304" charset="0"/>
              </a:rPr>
              <a:t>Many popular websites restrict access using a username and password. In Java, accessing such sites depends on how authentication is implemented.</a:t>
            </a:r>
            <a:endParaRPr lang="en-US" altLang="en-US">
              <a:latin typeface="Times New Roman" panose="02020603050405020304" charset="0"/>
              <a:cs typeface="Times New Roman" panose="02020603050405020304" charset="0"/>
            </a:endParaRPr>
          </a:p>
          <a:p>
            <a:pPr marL="0" indent="0">
              <a:buNone/>
            </a:pPr>
            <a:r>
              <a:rPr lang="en-US" altLang="en-US">
                <a:latin typeface="Times New Roman" panose="02020603050405020304" charset="0"/>
                <a:cs typeface="Times New Roman" panose="02020603050405020304" charset="0"/>
              </a:rPr>
              <a:t>Types of Authentication Used by Websites</a:t>
            </a:r>
            <a:endParaRPr lang="en-US" altLang="en-US">
              <a:latin typeface="Times New Roman" panose="02020603050405020304" charset="0"/>
              <a:cs typeface="Times New Roman" panose="02020603050405020304" charset="0"/>
            </a:endParaRPr>
          </a:p>
          <a:p>
            <a:pPr marL="514350" indent="-514350">
              <a:buAutoNum type="arabicPeriod"/>
            </a:pPr>
            <a:r>
              <a:rPr lang="en-US" altLang="en-US" b="1">
                <a:latin typeface="Times New Roman" panose="02020603050405020304" charset="0"/>
                <a:cs typeface="Times New Roman" panose="02020603050405020304" charset="0"/>
              </a:rPr>
              <a:t>HTTP Authentication</a:t>
            </a:r>
            <a:endParaRPr lang="en-US" altLang="en-US" b="1">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rPr>
              <a:t>Uses standard HTTP mechanisms (e.g., Basic Authentication)</a:t>
            </a:r>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rPr>
              <a:t>Supported directly by Java</a:t>
            </a:r>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rPr>
              <a:t>Example: W3C member pages</a:t>
            </a:r>
            <a:endParaRPr lang="en-US" altLang="en-US">
              <a:latin typeface="Times New Roman" panose="02020603050405020304" charset="0"/>
              <a:cs typeface="Times New Roman" panose="02020603050405020304"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838200" y="780415"/>
            <a:ext cx="10515600" cy="5396865"/>
          </a:xfrm>
        </p:spPr>
        <p:txBody>
          <a:bodyPr>
            <a:normAutofit lnSpcReduction="20000"/>
          </a:bodyPr>
          <a:p>
            <a:pPr marL="514350" indent="-514350">
              <a:buFont typeface="+mj-lt"/>
              <a:buAutoNum type="arabicPeriod" startAt="2"/>
            </a:pPr>
            <a:r>
              <a:rPr lang="en-US" altLang="en-US">
                <a:latin typeface="Times New Roman" panose="02020603050405020304" charset="0"/>
                <a:cs typeface="Times New Roman" panose="02020603050405020304" charset="0"/>
              </a:rPr>
              <a:t>Cookie / Form-based Authentication</a:t>
            </a:r>
            <a:endParaRPr lang="en-US" altLang="en-US">
              <a:latin typeface="Times New Roman" panose="02020603050405020304" charset="0"/>
              <a:cs typeface="Times New Roman" panose="02020603050405020304" charset="0"/>
            </a:endParaRPr>
          </a:p>
          <a:p>
            <a:r>
              <a:rPr lang="en-US" altLang="en-US" sz="2000">
                <a:latin typeface="Times New Roman" panose="02020603050405020304" charset="0"/>
                <a:cs typeface="Times New Roman" panose="02020603050405020304" charset="0"/>
              </a:rPr>
              <a:t>Uses HTML forms and cookies</a:t>
            </a:r>
            <a:endParaRPr lang="en-US" altLang="en-US" sz="2000">
              <a:latin typeface="Times New Roman" panose="02020603050405020304" charset="0"/>
              <a:cs typeface="Times New Roman" panose="02020603050405020304" charset="0"/>
            </a:endParaRPr>
          </a:p>
          <a:p>
            <a:r>
              <a:rPr lang="en-US" altLang="en-US" sz="2000">
                <a:latin typeface="Times New Roman" panose="02020603050405020304" charset="0"/>
                <a:cs typeface="Times New Roman" panose="02020603050405020304" charset="0"/>
              </a:rPr>
              <a:t>Not standardized</a:t>
            </a:r>
            <a:endParaRPr lang="en-US" altLang="en-US" sz="2000">
              <a:latin typeface="Times New Roman" panose="02020603050405020304" charset="0"/>
              <a:cs typeface="Times New Roman" panose="02020603050405020304" charset="0"/>
            </a:endParaRPr>
          </a:p>
          <a:p>
            <a:r>
              <a:rPr lang="en-US" altLang="en-US" sz="2000">
                <a:latin typeface="Times New Roman" panose="02020603050405020304" charset="0"/>
                <a:cs typeface="Times New Roman" panose="02020603050405020304" charset="0"/>
              </a:rPr>
              <a:t>Difficult to implement without a full browser</a:t>
            </a:r>
            <a:endParaRPr lang="en-US" altLang="en-US" sz="2000">
              <a:latin typeface="Times New Roman" panose="02020603050405020304" charset="0"/>
              <a:cs typeface="Times New Roman" panose="02020603050405020304" charset="0"/>
            </a:endParaRPr>
          </a:p>
          <a:p>
            <a:r>
              <a:rPr lang="en-US" altLang="en-US" sz="2000">
                <a:latin typeface="Times New Roman" panose="02020603050405020304" charset="0"/>
                <a:cs typeface="Times New Roman" panose="02020603050405020304" charset="0"/>
              </a:rPr>
              <a:t>Example: New York Times website</a:t>
            </a:r>
            <a:endParaRPr lang="en-US" altLang="en-US" sz="2000">
              <a:latin typeface="Times New Roman" panose="02020603050405020304" charset="0"/>
              <a:cs typeface="Times New Roman" panose="02020603050405020304" charset="0"/>
            </a:endParaRPr>
          </a:p>
          <a:p>
            <a:pPr marL="0" indent="0">
              <a:buNone/>
            </a:pPr>
            <a:r>
              <a:rPr lang="en-US" altLang="en-US" sz="2000">
                <a:latin typeface="Times New Roman" panose="02020603050405020304" charset="0"/>
                <a:cs typeface="Times New Roman" panose="02020603050405020304" charset="0"/>
              </a:rPr>
              <a:t>Java’s URL class supports HTTP authentication, but not nonstandard cookie-based authentication easily.</a:t>
            </a:r>
            <a:endParaRPr lang="en-US" altLang="en-US" sz="2000">
              <a:latin typeface="Times New Roman" panose="02020603050405020304" charset="0"/>
              <a:cs typeface="Times New Roman" panose="02020603050405020304" charset="0"/>
            </a:endParaRPr>
          </a:p>
          <a:p>
            <a:pPr marL="0" indent="0">
              <a:buNone/>
            </a:pPr>
            <a:r>
              <a:rPr lang="en-US" altLang="en-US" sz="2400" b="1">
                <a:latin typeface="Times New Roman" panose="02020603050405020304" charset="0"/>
                <a:cs typeface="Times New Roman" panose="02020603050405020304" charset="0"/>
              </a:rPr>
              <a:t> </a:t>
            </a:r>
            <a:endParaRPr lang="en-US" altLang="en-US" sz="2000">
              <a:latin typeface="Times New Roman" panose="02020603050405020304" charset="0"/>
              <a:cs typeface="Times New Roman" panose="02020603050405020304"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b="1">
                <a:latin typeface="Times New Roman" panose="02020603050405020304" charset="0"/>
                <a:cs typeface="Times New Roman" panose="02020603050405020304" charset="0"/>
                <a:sym typeface="+mn-ea"/>
              </a:rPr>
              <a:t>Authenticator Class</a:t>
            </a:r>
            <a:endParaRPr lang="en-US"/>
          </a:p>
        </p:txBody>
      </p:sp>
      <p:sp>
        <p:nvSpPr>
          <p:cNvPr id="3" name="Content Placeholder 2"/>
          <p:cNvSpPr>
            <a:spLocks noGrp="1"/>
          </p:cNvSpPr>
          <p:nvPr>
            <p:ph idx="1"/>
          </p:nvPr>
        </p:nvSpPr>
        <p:spPr/>
        <p:txBody>
          <a:bodyPr/>
          <a:p>
            <a:pPr marL="0" indent="0">
              <a:buNone/>
            </a:pPr>
            <a:r>
              <a:rPr lang="en-US" altLang="en-US">
                <a:latin typeface="Times New Roman" panose="02020603050405020304" charset="0"/>
                <a:cs typeface="Times New Roman" panose="02020603050405020304" charset="0"/>
                <a:sym typeface="+mn-ea"/>
              </a:rPr>
              <a:t>Java provides the java.net.Authenticator class to supply usernames and passwords for HTTP-authenticated sites.</a:t>
            </a:r>
            <a:endParaRPr lang="en-US" altLang="en-US">
              <a:latin typeface="Times New Roman" panose="02020603050405020304" charset="0"/>
              <a:cs typeface="Times New Roman" panose="02020603050405020304" charset="0"/>
            </a:endParaRPr>
          </a:p>
          <a:p>
            <a:pPr marL="0" indent="0">
              <a:buNone/>
            </a:pPr>
            <a:r>
              <a:rPr lang="en-US" altLang="en-US" b="1" i="1">
                <a:latin typeface="Times New Roman" panose="02020603050405020304" charset="0"/>
                <a:cs typeface="Times New Roman" panose="02020603050405020304" charset="0"/>
                <a:sym typeface="+mn-ea"/>
              </a:rPr>
              <a:t>public abstract class Authenticator extend object</a:t>
            </a:r>
            <a:endParaRPr lang="en-US" altLang="en-US" b="1" i="1">
              <a:latin typeface="Times New Roman" panose="02020603050405020304" charset="0"/>
              <a:cs typeface="Times New Roman" panose="02020603050405020304" charset="0"/>
            </a:endParaRPr>
          </a:p>
          <a:p>
            <a:pPr marL="0" indent="0">
              <a:buNone/>
            </a:pPr>
            <a:r>
              <a:rPr lang="en-US" altLang="en-US" b="1">
                <a:latin typeface="Times New Roman" panose="02020603050405020304" charset="0"/>
                <a:cs typeface="Times New Roman" panose="02020603050405020304" charset="0"/>
                <a:sym typeface="+mn-ea"/>
              </a:rPr>
              <a:t>Purpose:</a:t>
            </a:r>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sym typeface="+mn-ea"/>
              </a:rPr>
              <a:t>Automatically provides credentials when a protected URL is accessed</a:t>
            </a:r>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sym typeface="+mn-ea"/>
              </a:rPr>
              <a:t>Avoids hard-coding usernames and passwords.</a:t>
            </a:r>
            <a:endParaRPr lang="en-US" altLang="en-US">
              <a:latin typeface="Times New Roman" panose="02020603050405020304" charset="0"/>
              <a:cs typeface="Times New Roman" panose="02020603050405020304" charset="0"/>
            </a:endParaRPr>
          </a:p>
          <a:p>
            <a:pPr marL="0" indent="0">
              <a:buNone/>
            </a:pPr>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18332</Words>
  <Application>WPS Presentation</Application>
  <PresentationFormat>Widescreen</PresentationFormat>
  <Paragraphs>311</Paragraphs>
  <Slides>33</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33</vt:i4>
      </vt:variant>
    </vt:vector>
  </HeadingPairs>
  <TitlesOfParts>
    <vt:vector size="42" baseType="lpstr">
      <vt:lpstr>Arial</vt:lpstr>
      <vt:lpstr>SimSun</vt:lpstr>
      <vt:lpstr>Wingdings</vt:lpstr>
      <vt:lpstr>Calibri Light</vt:lpstr>
      <vt:lpstr>Calibri</vt:lpstr>
      <vt:lpstr>Microsoft YaHei</vt:lpstr>
      <vt:lpstr>Arial Unicode MS</vt:lpstr>
      <vt:lpstr>Times New Roman</vt:lpstr>
      <vt:lpstr>Office Theme</vt:lpstr>
      <vt:lpstr>URLs and Uris</vt:lpstr>
      <vt:lpstr>Introduct of URL</vt:lpstr>
      <vt:lpstr>Structure of a URL</vt:lpstr>
      <vt:lpstr>PowerPoint 演示文稿</vt:lpstr>
      <vt:lpstr>Relative URL</vt:lpstr>
      <vt:lpstr>PowerPoint 演示文稿</vt:lpstr>
      <vt:lpstr>The URL Class</vt:lpstr>
      <vt:lpstr>Components of a URL</vt:lpstr>
      <vt:lpstr>Constructors of URL class</vt:lpstr>
      <vt:lpstr>PowerPoint 演示文稿</vt:lpstr>
      <vt:lpstr>PowerPoint 演示文稿</vt:lpstr>
      <vt:lpstr>The Important Method of URL Class are given below</vt:lpstr>
      <vt:lpstr>Retrieving Data from a URL</vt:lpstr>
      <vt:lpstr>PowerPoint 演示文稿</vt:lpstr>
      <vt:lpstr>public URLConnection openConnection() throws IOException</vt:lpstr>
      <vt:lpstr>public final Object getContent() throws IOException</vt:lpstr>
      <vt:lpstr>Constructing a URI</vt:lpstr>
      <vt:lpstr>PowerPoint 演示文稿</vt:lpstr>
      <vt:lpstr>Parts of a URI</vt:lpstr>
      <vt:lpstr>PowerPoint 演示文稿</vt:lpstr>
      <vt:lpstr>Resolving Relative URIs </vt:lpstr>
      <vt:lpstr>Equality &amp; comparison and String Representation</vt:lpstr>
      <vt:lpstr>PowerPoint 演示文稿</vt:lpstr>
      <vt:lpstr>String Representation of URI</vt:lpstr>
      <vt:lpstr>URL Encoder and URL Decoder</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Pappu jaiswal</dc:creator>
  <cp:lastModifiedBy>Pappu Jaiswal</cp:lastModifiedBy>
  <cp:revision>89</cp:revision>
  <dcterms:created xsi:type="dcterms:W3CDTF">2025-07-23T00:59:00Z</dcterms:created>
  <dcterms:modified xsi:type="dcterms:W3CDTF">2025-12-14T02:29:55Z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CD7E18E8EA9E44C69C41154E7A69F5DE_11</vt:lpwstr>
  </property>
  <property fmtid="{D5CDD505-2E9C-101B-9397-08002B2CF9AE}" pid="3" name="KSOProductBuildVer">
    <vt:lpwstr>1033-12.2.0.23155</vt:lpwstr>
  </property>
</Properties>
</file>