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Subtitle 2"/>
          <p:cNvSpPr>
            <a:spLocks noGrp="1"/>
          </p:cNvSpPr>
          <p:nvPr>
            <p:ph type="subTitle" idx="1"/>
          </p:nvPr>
        </p:nvSpPr>
        <p:spPr>
          <a:xfrm>
            <a:off x="1524000" y="964565"/>
            <a:ext cx="9144000" cy="4293235"/>
          </a:xfrm>
        </p:spPr>
        <p:txBody>
          <a:bodyPr/>
          <a:p>
            <a:pPr algn="ctr">
              <a:buFont typeface="Arial" panose="020B0604020202020204" pitchFamily="34" charset="0"/>
            </a:pPr>
            <a:r>
              <a:rPr lang="en-US"/>
              <a:t>Unit-2  (4 hrs)</a:t>
            </a:r>
            <a:endParaRPr lang="en-US"/>
          </a:p>
          <a:p>
            <a:pPr marL="342900" indent="-342900" algn="l">
              <a:buFont typeface="Arial" panose="020B0604020202020204" pitchFamily="34" charset="0"/>
              <a:buChar char="•"/>
            </a:pPr>
            <a:r>
              <a:rPr lang="en-US"/>
              <a:t>The InetAddress Class:Creating new InetAddress Objects, Getter methods</a:t>
            </a:r>
            <a:endParaRPr lang="en-US"/>
          </a:p>
          <a:p>
            <a:pPr marL="342900" indent="-342900" algn="l">
              <a:buFont typeface="Arial" panose="020B0604020202020204" pitchFamily="34" charset="0"/>
              <a:buChar char="•"/>
            </a:pPr>
            <a:r>
              <a:rPr lang="en-US"/>
              <a:t>Address Types, Testing Reachability and object Method</a:t>
            </a:r>
            <a:endParaRPr lang="en-US"/>
          </a:p>
          <a:p>
            <a:pPr marL="342900" indent="-342900" algn="l">
              <a:buFont typeface="Arial" panose="020B0604020202020204" pitchFamily="34" charset="0"/>
              <a:buChar char="•"/>
            </a:pPr>
            <a:r>
              <a:rPr lang="en-US"/>
              <a:t>Inet4Address and Inet6Address</a:t>
            </a:r>
            <a:endParaRPr lang="en-US"/>
          </a:p>
          <a:p>
            <a:pPr marL="342900" indent="-342900" algn="l">
              <a:buFont typeface="Arial" panose="020B0604020202020204" pitchFamily="34" charset="0"/>
              <a:buChar char="•"/>
            </a:pPr>
            <a:r>
              <a:rPr lang="en-US"/>
              <a:t>The Network Interface Class: Factory Method and Getter Method</a:t>
            </a:r>
            <a:endParaRPr lang="en-US"/>
          </a:p>
          <a:p>
            <a:pPr marL="342900" indent="-342900" algn="l">
              <a:buFont typeface="Arial" panose="020B0604020202020204" pitchFamily="34" charset="0"/>
              <a:buChar char="•"/>
            </a:pPr>
            <a:r>
              <a:rPr lang="en-US"/>
              <a:t>Some useful Programs: SpamCheck, Processing web Server Logfiles</a:t>
            </a:r>
            <a:endParaRPr lang="en-US"/>
          </a:p>
          <a:p>
            <a:pPr marL="342900" indent="-342900" algn="l">
              <a:buFont typeface="Arial" panose="020B0604020202020204" pitchFamily="34" charset="0"/>
              <a:buChar char="•"/>
            </a:pP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IP Address</a:t>
            </a:r>
            <a:endParaRPr lang="en-US"/>
          </a:p>
        </p:txBody>
      </p:sp>
      <p:sp>
        <p:nvSpPr>
          <p:cNvPr id="3" name="Content Placeholder 2"/>
          <p:cNvSpPr>
            <a:spLocks noGrp="1"/>
          </p:cNvSpPr>
          <p:nvPr>
            <p:ph idx="1"/>
          </p:nvPr>
        </p:nvSpPr>
        <p:spPr>
          <a:xfrm>
            <a:off x="478155" y="1419860"/>
            <a:ext cx="11203940" cy="4757420"/>
          </a:xfrm>
        </p:spPr>
        <p:txBody>
          <a:bodyPr/>
          <a:p>
            <a:r>
              <a:rPr lang="en-US" altLang="en-US" sz="2000"/>
              <a:t>An IP Address (Internet Protocol Address) is a unique numerical label assigned to each device connected to a computer network that uses the Internet Protocol for communication. It serves two main purposes:</a:t>
            </a:r>
            <a:endParaRPr lang="en-US" altLang="en-US" sz="2000"/>
          </a:p>
          <a:p>
            <a:pPr marL="0" indent="0">
              <a:buNone/>
            </a:pPr>
            <a:r>
              <a:rPr lang="en-US" altLang="en-US" sz="2000"/>
              <a:t>1). Identifying a device on the network.</a:t>
            </a:r>
            <a:endParaRPr lang="en-US" altLang="en-US" sz="2000"/>
          </a:p>
          <a:p>
            <a:pPr marL="0" indent="0">
              <a:buNone/>
            </a:pPr>
            <a:r>
              <a:rPr lang="en-US" altLang="en-US" sz="2000"/>
              <a:t>2). Locating the device to enable communication with other devices over a network like the Internet</a:t>
            </a:r>
            <a:r>
              <a:rPr lang="en-US" altLang="en-US"/>
              <a:t>.</a:t>
            </a:r>
            <a:endParaRPr lang="en-US" altLang="en-US"/>
          </a:p>
          <a:p>
            <a:pPr marL="0" indent="0">
              <a:buNone/>
            </a:pPr>
            <a:endParaRPr lang="en-US" altLang="en-US"/>
          </a:p>
        </p:txBody>
      </p:sp>
      <p:pic>
        <p:nvPicPr>
          <p:cNvPr id="5" name="Picture 4"/>
          <p:cNvPicPr>
            <a:picLocks noChangeAspect="1"/>
          </p:cNvPicPr>
          <p:nvPr/>
        </p:nvPicPr>
        <p:blipFill>
          <a:blip r:embed="rId1"/>
          <a:stretch>
            <a:fillRect/>
          </a:stretch>
        </p:blipFill>
        <p:spPr>
          <a:xfrm>
            <a:off x="2423795" y="3272790"/>
            <a:ext cx="6686550" cy="31527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1371600"/>
            <a:ext cx="10515600" cy="4805680"/>
          </a:xfrm>
        </p:spPr>
        <p:txBody>
          <a:bodyPr/>
          <a:p>
            <a:r>
              <a:rPr lang="en-US"/>
              <a:t>Most Network Combine ip with TCP(Transmission Control Protocol) it builds a virtual bridge among the destination and the source.</a:t>
            </a:r>
            <a:endParaRPr lang="en-US"/>
          </a:p>
          <a:p>
            <a:r>
              <a:rPr lang="en-US"/>
              <a:t>two version of ip Address</a:t>
            </a:r>
            <a:endParaRPr lang="en-US"/>
          </a:p>
          <a:p>
            <a:pPr marL="0" indent="0">
              <a:buNone/>
            </a:pPr>
            <a:r>
              <a:rPr lang="en-US"/>
              <a:t>1). IPv4 :</a:t>
            </a:r>
            <a:endParaRPr lang="en-US"/>
          </a:p>
          <a:p>
            <a:pPr marL="0" indent="0">
              <a:buNone/>
            </a:pPr>
            <a:r>
              <a:rPr lang="en-US"/>
              <a:t>2). IPv6</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IPv4 </a:t>
            </a:r>
            <a:endParaRPr lang="en-US"/>
          </a:p>
        </p:txBody>
      </p:sp>
      <p:sp>
        <p:nvSpPr>
          <p:cNvPr id="3" name="Content Placeholder 2"/>
          <p:cNvSpPr>
            <a:spLocks noGrp="1"/>
          </p:cNvSpPr>
          <p:nvPr>
            <p:ph idx="1"/>
          </p:nvPr>
        </p:nvSpPr>
        <p:spPr>
          <a:xfrm>
            <a:off x="838200" y="1444625"/>
            <a:ext cx="10515600" cy="4351338"/>
          </a:xfrm>
        </p:spPr>
        <p:txBody>
          <a:bodyPr>
            <a:normAutofit/>
          </a:bodyPr>
          <a:p>
            <a:pPr algn="just"/>
            <a:r>
              <a:rPr lang="en-US" altLang="en-US" sz="2000"/>
              <a:t>An IPv4 address consists of series of four eight-bit binary numbers which are separated by decimal point. Although any numbering system can be used to represent a unique 32- bit number, most commonly you see IP address expressed in dot decimal notation.</a:t>
            </a:r>
            <a:endParaRPr lang="en-US" altLang="en-US" sz="2000"/>
          </a:p>
          <a:p>
            <a:pPr algn="just"/>
            <a:r>
              <a:rPr lang="en-US" altLang="en-US" sz="2000"/>
              <a:t>An IPv4 address is normally written as four unsigned bytes, each ranging from 0 to 255,with the most significant byte first. Bytes are separated by periods for the convenience of human eyes. For example, the address for login.ibiblio.org is 152.19.134.132. This is called the dotted quad format.</a:t>
            </a:r>
            <a:endParaRPr lang="en-US" altLang="en-US" sz="2000"/>
          </a:p>
          <a:p>
            <a:pPr marL="0" indent="0" algn="just">
              <a:buNone/>
            </a:pPr>
            <a:endParaRPr lang="en-US" altLang="en-US" sz="2000"/>
          </a:p>
        </p:txBody>
      </p:sp>
      <p:pic>
        <p:nvPicPr>
          <p:cNvPr id="4" name="Picture 3"/>
          <p:cNvPicPr>
            <a:picLocks noChangeAspect="1"/>
          </p:cNvPicPr>
          <p:nvPr/>
        </p:nvPicPr>
        <p:blipFill>
          <a:blip r:embed="rId1"/>
          <a:stretch>
            <a:fillRect/>
          </a:stretch>
        </p:blipFill>
        <p:spPr>
          <a:xfrm>
            <a:off x="2473325" y="3429000"/>
            <a:ext cx="6248400" cy="28860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IPv6</a:t>
            </a:r>
            <a:endParaRPr lang="en-US"/>
          </a:p>
        </p:txBody>
      </p:sp>
      <p:sp>
        <p:nvSpPr>
          <p:cNvPr id="3" name="Content Placeholder 2"/>
          <p:cNvSpPr>
            <a:spLocks noGrp="1"/>
          </p:cNvSpPr>
          <p:nvPr>
            <p:ph idx="1"/>
          </p:nvPr>
        </p:nvSpPr>
        <p:spPr>
          <a:xfrm>
            <a:off x="838200" y="1253490"/>
            <a:ext cx="10515600" cy="4351338"/>
          </a:xfrm>
        </p:spPr>
        <p:txBody>
          <a:bodyPr>
            <a:normAutofit/>
          </a:bodyPr>
          <a:p>
            <a:r>
              <a:rPr lang="en-US" altLang="en-US" sz="2000"/>
              <a:t>IPv6 is the newest version of the Internet Protocol (IP) — the system used to identify and locate devices on a network and route traffic across the internet. It was developed to replace IPv4, which is running out of unique addresses.</a:t>
            </a:r>
            <a:endParaRPr lang="en-US" altLang="en-US" sz="2000"/>
          </a:p>
          <a:p>
            <a:r>
              <a:rPr lang="en-US" altLang="en-US" sz="2000"/>
              <a:t>IPv4 uses 32-bit addresses, allowing around 4.3 billion unique IP addresses. With the growth of the internet, connected devices (phones, IoT, computers, etc.) have increased dramatically — so IPv4 addresses became insufficient. IPv6 solves this problem with a much larger address space.</a:t>
            </a:r>
            <a:endParaRPr lang="en-US" altLang="en-US" sz="2000"/>
          </a:p>
          <a:p>
            <a:r>
              <a:rPr lang="en-US" altLang="en-US" sz="2000"/>
              <a:t>IPv6 uses 128-bit addresses, allowing approximately 340 undecillion (3.4 × 10³⁸) unique addresses.</a:t>
            </a:r>
            <a:endParaRPr lang="en-US" altLang="en-US" sz="2000"/>
          </a:p>
          <a:p>
            <a:endParaRPr lang="en-US" altLang="en-US" sz="2000"/>
          </a:p>
        </p:txBody>
      </p:sp>
      <p:pic>
        <p:nvPicPr>
          <p:cNvPr id="4" name="Picture 3"/>
          <p:cNvPicPr>
            <a:picLocks noChangeAspect="1"/>
          </p:cNvPicPr>
          <p:nvPr/>
        </p:nvPicPr>
        <p:blipFill>
          <a:blip r:embed="rId1"/>
          <a:stretch>
            <a:fillRect/>
          </a:stretch>
        </p:blipFill>
        <p:spPr>
          <a:xfrm>
            <a:off x="3060700" y="3561080"/>
            <a:ext cx="4895850" cy="2609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InetAddress Class</a:t>
            </a:r>
            <a:endParaRPr lang="en-US"/>
          </a:p>
        </p:txBody>
      </p:sp>
      <p:sp>
        <p:nvSpPr>
          <p:cNvPr id="3" name="Content Placeholder 2"/>
          <p:cNvSpPr>
            <a:spLocks noGrp="1"/>
          </p:cNvSpPr>
          <p:nvPr>
            <p:ph idx="1"/>
          </p:nvPr>
        </p:nvSpPr>
        <p:spPr/>
        <p:txBody>
          <a:bodyPr/>
          <a:p>
            <a:r>
              <a:rPr lang="en-US" altLang="en-US"/>
              <a:t>The java.net.InetAddress class is Java’s high-level representation of an IP address, both IPv4 and IPv6. It is used by most of the other networking classes, including Socket, ServerSocket, URL, DatagramSocket, DatagramPacket, and more. Usually, it includes both a hostname and an IP address.</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Creating New InetAddress Objects</a:t>
            </a:r>
            <a:endParaRPr lang="en-US" altLang="en-US"/>
          </a:p>
        </p:txBody>
      </p:sp>
      <p:sp>
        <p:nvSpPr>
          <p:cNvPr id="3" name="Content Placeholder 2"/>
          <p:cNvSpPr>
            <a:spLocks noGrp="1"/>
          </p:cNvSpPr>
          <p:nvPr>
            <p:ph idx="1"/>
          </p:nvPr>
        </p:nvSpPr>
        <p:spPr/>
        <p:txBody>
          <a:bodyPr/>
          <a:p>
            <a:pPr algn="just"/>
            <a:r>
              <a:rPr lang="en-US" altLang="en-US" sz="2000"/>
              <a:t>There are no public constructors in the InetAddress class. Instead, InetAddress has static factory methods that connect to a DNS server to resolve a hostname. The most common is InetAddress.getByName(). For example, this is how you look up www.oreilly.com: </a:t>
            </a:r>
            <a:endParaRPr lang="en-US" altLang="en-US"/>
          </a:p>
          <a:p>
            <a:pPr marL="0" indent="0" algn="just">
              <a:buNone/>
            </a:pPr>
            <a:r>
              <a:rPr lang="en-US" altLang="en-US" sz="2000"/>
              <a:t>    InetAddress address = InetAddress.getByName("www.oreilly.com");</a:t>
            </a:r>
            <a:endParaRPr lang="en-US" altLang="en-US" sz="2000"/>
          </a:p>
          <a:p>
            <a:pPr algn="just"/>
            <a:r>
              <a:rPr lang="en-US" altLang="en-US" sz="2000"/>
              <a:t>This method does not merely set a private String field in the InetAddress class. It actually makes a connection to the local DNS server to look up the name and the numeric address</a:t>
            </a:r>
            <a:endParaRPr lang="en-US" altLang="en-US"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Getter Methods</a:t>
            </a:r>
            <a:endParaRPr lang="en-US" altLang="en-US"/>
          </a:p>
        </p:txBody>
      </p:sp>
      <p:sp>
        <p:nvSpPr>
          <p:cNvPr id="3" name="Content Placeholder 2"/>
          <p:cNvSpPr>
            <a:spLocks noGrp="1"/>
          </p:cNvSpPr>
          <p:nvPr>
            <p:ph idx="1"/>
          </p:nvPr>
        </p:nvSpPr>
        <p:spPr/>
        <p:txBody>
          <a:bodyPr/>
          <a:p>
            <a:r>
              <a:rPr lang="en-US" altLang="en-US" sz="2000"/>
              <a:t>The InetAddress class contains four getter methods that return the hostname as a string and the IP address as both a string and a byte array:</a:t>
            </a:r>
            <a:endParaRPr lang="en-US" altLang="en-US" sz="2000"/>
          </a:p>
          <a:p>
            <a:pPr marL="0" indent="0">
              <a:buNone/>
            </a:pPr>
            <a:r>
              <a:rPr lang="en-US" altLang="en-US" sz="2000"/>
              <a:t>public String getHostName()</a:t>
            </a:r>
            <a:endParaRPr lang="en-US" altLang="en-US" sz="2000"/>
          </a:p>
          <a:p>
            <a:pPr marL="0" indent="0">
              <a:buNone/>
            </a:pPr>
            <a:r>
              <a:rPr lang="en-US" altLang="en-US" sz="2000"/>
              <a:t>public String getCanonicalHostName()</a:t>
            </a:r>
            <a:endParaRPr lang="en-US" altLang="en-US" sz="2000"/>
          </a:p>
          <a:p>
            <a:pPr marL="0" indent="0">
              <a:buNone/>
            </a:pPr>
            <a:r>
              <a:rPr lang="en-US" altLang="en-US" sz="2000"/>
              <a:t>public byte[] getAddress()</a:t>
            </a:r>
            <a:endParaRPr lang="en-US" altLang="en-US" sz="2000"/>
          </a:p>
          <a:p>
            <a:pPr marL="0" indent="0">
              <a:buNone/>
            </a:pPr>
            <a:r>
              <a:rPr lang="en-US" altLang="en-US" sz="2000"/>
              <a:t>public String getHostAddress()</a:t>
            </a:r>
            <a:endParaRPr lang="en-US" altLang="en-US"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60070" y="461645"/>
            <a:ext cx="10793730" cy="5934710"/>
          </a:xfrm>
        </p:spPr>
        <p:txBody>
          <a:bodyPr>
            <a:normAutofit lnSpcReduction="10000"/>
          </a:bodyPr>
          <a:p>
            <a:r>
              <a:rPr lang="en-US" altLang="en-US" sz="2000"/>
              <a:t>The </a:t>
            </a:r>
            <a:r>
              <a:rPr lang="en-US" altLang="en-US" sz="2000" b="1"/>
              <a:t>getHostName() method </a:t>
            </a:r>
            <a:r>
              <a:rPr lang="en-US" altLang="en-US" sz="2000"/>
              <a:t>returns a String that contains the name of the host with the IP address represented by this InetAddress object.</a:t>
            </a:r>
            <a:endParaRPr lang="en-US" altLang="en-US" sz="2000"/>
          </a:p>
          <a:p>
            <a:pPr marL="0" indent="0">
              <a:buNone/>
            </a:pPr>
            <a:r>
              <a:rPr lang="en-US" altLang="en-US" sz="2000"/>
              <a:t>for example:</a:t>
            </a:r>
            <a:endParaRPr lang="en-US" altLang="en-US" sz="2000"/>
          </a:p>
          <a:p>
            <a:pPr marL="0" indent="0">
              <a:buNone/>
            </a:pPr>
            <a:r>
              <a:rPr lang="en-US" altLang="en-US" sz="2000"/>
              <a:t>InetAddress machine = InetAddress.getLocalHost();</a:t>
            </a:r>
            <a:endParaRPr lang="en-US" altLang="en-US" sz="2000"/>
          </a:p>
          <a:p>
            <a:pPr marL="0" indent="0">
              <a:buNone/>
            </a:pPr>
            <a:r>
              <a:rPr lang="en-US" altLang="en-US" sz="2000"/>
              <a:t>String localhost = machine.getHostName();</a:t>
            </a:r>
            <a:endParaRPr lang="en-US" altLang="en-US" sz="2000"/>
          </a:p>
          <a:p>
            <a:r>
              <a:rPr lang="en-US" altLang="en-US" sz="2000"/>
              <a:t>The</a:t>
            </a:r>
            <a:r>
              <a:rPr lang="en-US" altLang="en-US" sz="2000" b="1"/>
              <a:t> getCanonicalHostName() method</a:t>
            </a:r>
            <a:r>
              <a:rPr lang="en-US" altLang="en-US" sz="2000"/>
              <a:t> is similar, but it’s a bit more aggressive about contacting DNS. getHostName() will only call DNS if it doesn’t think it already knows the hostname. getCanonicalHostName() calls DNS if it can, and may replace the existing cached hostname. For example:</a:t>
            </a:r>
            <a:endParaRPr lang="en-US" altLang="en-US" sz="2000"/>
          </a:p>
          <a:p>
            <a:pPr marL="0" indent="0">
              <a:buNone/>
            </a:pPr>
            <a:r>
              <a:rPr lang="en-US" altLang="en-US" sz="2000"/>
              <a:t>InetAddress machine = InetAddress.getLocalHost();</a:t>
            </a:r>
            <a:endParaRPr lang="en-US" altLang="en-US" sz="2000"/>
          </a:p>
          <a:p>
            <a:pPr marL="0" indent="0">
              <a:buNone/>
            </a:pPr>
            <a:r>
              <a:rPr lang="en-US" altLang="en-US" sz="2000"/>
              <a:t>String localhost = machine.getCanonicalHostName();</a:t>
            </a:r>
            <a:endParaRPr lang="en-US" altLang="en-US" sz="2000"/>
          </a:p>
          <a:p>
            <a:pPr marL="0" indent="0">
              <a:buNone/>
            </a:pPr>
            <a:r>
              <a:rPr lang="en-US" altLang="en-US" sz="1800"/>
              <a:t>The getCanonicalHostName() method is particularly useful when you’re starting with a dotted quad IP address rather than the hostname. folliwing example converts the dotted quad address 208.201.239.37 into a hostname by using InetAddress.getByName() and then applying getCanonicalHostName() on the resulting object.</a:t>
            </a:r>
            <a:endParaRPr lang="en-US" altLang="en-US" sz="1800"/>
          </a:p>
          <a:p>
            <a:pPr marL="0" indent="0">
              <a:buNone/>
            </a:pPr>
            <a:r>
              <a:rPr lang="en-US" altLang="en-US" sz="1800"/>
              <a:t>InetAddress ia = InetAddress.getByName("208.201.239.100");</a:t>
            </a:r>
            <a:endParaRPr lang="en-US" altLang="en-US" sz="1800"/>
          </a:p>
          <a:p>
            <a:pPr marL="0" indent="0">
              <a:buNone/>
            </a:pPr>
            <a:r>
              <a:rPr lang="en-US" altLang="en-US" sz="1800"/>
              <a:t> System.out.println(ia.getCanonicalHostName());</a:t>
            </a:r>
            <a:endParaRPr lang="en-US" altLang="en-US"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35940"/>
            <a:ext cx="10515600" cy="5641340"/>
          </a:xfrm>
        </p:spPr>
        <p:txBody>
          <a:bodyPr/>
          <a:p>
            <a:r>
              <a:rPr lang="en-US" altLang="en-US" sz="2000"/>
              <a:t>The</a:t>
            </a:r>
            <a:r>
              <a:rPr lang="en-US" altLang="en-US" sz="2000" b="1"/>
              <a:t> getHostAddress() method</a:t>
            </a:r>
            <a:r>
              <a:rPr lang="en-US" altLang="en-US" sz="2000"/>
              <a:t> returns a string containing the dotted quad format of the IP address. </a:t>
            </a:r>
            <a:endParaRPr lang="en-US" altLang="en-US" sz="2000"/>
          </a:p>
          <a:p>
            <a:pPr marL="0" indent="0">
              <a:buNone/>
            </a:pPr>
            <a:r>
              <a:rPr lang="en-US" altLang="en-US" sz="2000"/>
              <a:t>InetAddress me = InetAddress.getLocalHost();</a:t>
            </a:r>
            <a:endParaRPr lang="en-US" altLang="en-US" sz="2000"/>
          </a:p>
          <a:p>
            <a:pPr marL="0" indent="0">
              <a:buNone/>
            </a:pPr>
            <a:r>
              <a:rPr lang="en-US" altLang="en-US" sz="2000"/>
              <a:t> String dottedQuad = me.getHostAddress();</a:t>
            </a:r>
            <a:endParaRPr lang="en-US" altLang="en-US" sz="2000"/>
          </a:p>
          <a:p>
            <a:pPr marL="0" indent="0">
              <a:buNone/>
            </a:pPr>
            <a:r>
              <a:rPr lang="en-US" altLang="en-US" sz="2000"/>
              <a:t> System.out.println("My address is " + dottedQuad);</a:t>
            </a:r>
            <a:endParaRPr lang="en-US" altLang="en-US" sz="2000"/>
          </a:p>
          <a:p>
            <a:endParaRPr lang="en-US" altLang="en-US" sz="2000"/>
          </a:p>
          <a:p>
            <a:r>
              <a:rPr lang="en-US" altLang="en-US" sz="2000"/>
              <a:t>If you want to know the IP address of a machine (and you rarely do), then use the</a:t>
            </a:r>
            <a:r>
              <a:rPr lang="en-US" altLang="en-US" sz="2000" b="1"/>
              <a:t> getAddress() method,</a:t>
            </a:r>
            <a:r>
              <a:rPr lang="en-US" altLang="en-US" sz="2000"/>
              <a:t> which returns an IP address as an array of bytes in network byte order. The most significant byte (i.e., the first byte in the address’s dotted quad form) is the first byte in the array, or element zero. To be ready for IPv6 addresses, try not to assume anything about the length of this array. If you need to know the length of the array, use the array’s length field:</a:t>
            </a:r>
            <a:endParaRPr lang="en-US" altLang="en-US" sz="2000"/>
          </a:p>
          <a:p>
            <a:pPr marL="0" indent="0">
              <a:buNone/>
            </a:pPr>
            <a:r>
              <a:rPr lang="en-US" altLang="en-US" sz="2000"/>
              <a:t>InetAddress me = InetAddress.getLocalHost();</a:t>
            </a:r>
            <a:endParaRPr lang="en-US" altLang="en-US" sz="2000"/>
          </a:p>
          <a:p>
            <a:pPr marL="0" indent="0">
              <a:buNone/>
            </a:pPr>
            <a:r>
              <a:rPr lang="en-US" altLang="en-US" sz="2000"/>
              <a:t>byte[] address = me.getAddress();</a:t>
            </a:r>
            <a:endParaRPr lang="en-US" altLang="en-US"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36855"/>
            <a:ext cx="10515600" cy="1003935"/>
          </a:xfrm>
        </p:spPr>
        <p:txBody>
          <a:bodyPr/>
          <a:p>
            <a:r>
              <a:rPr lang="en-US"/>
              <a:t>Address Types</a:t>
            </a:r>
            <a:endParaRPr lang="en-US"/>
          </a:p>
        </p:txBody>
      </p:sp>
      <p:sp>
        <p:nvSpPr>
          <p:cNvPr id="3" name="Content Placeholder 2"/>
          <p:cNvSpPr>
            <a:spLocks noGrp="1"/>
          </p:cNvSpPr>
          <p:nvPr>
            <p:ph idx="1"/>
          </p:nvPr>
        </p:nvSpPr>
        <p:spPr>
          <a:xfrm>
            <a:off x="677545" y="1240790"/>
            <a:ext cx="10953750" cy="4936490"/>
          </a:xfrm>
        </p:spPr>
        <p:txBody>
          <a:bodyPr>
            <a:noAutofit/>
          </a:bodyPr>
          <a:p>
            <a:pPr marL="0" indent="0">
              <a:buNone/>
            </a:pPr>
            <a:r>
              <a:rPr lang="en-US" altLang="en-US" sz="2000"/>
              <a:t>Some IP addresses and some patterns of addresses have special meanings. For instance, I’ve already mentioned that 127.0.0.1 is the local loopback address. IPv4 addresses in the range 224.0.0.0 to 239.255.255.255 are multicast addresses that send to several subscribed hosts at once. Java includes 10 methods for testing whether an InetAddress object meets any of these criteria:</a:t>
            </a:r>
            <a:endParaRPr lang="en-US" altLang="en-US" sz="2000"/>
          </a:p>
          <a:p>
            <a:r>
              <a:rPr lang="en-US" altLang="en-US" sz="2000"/>
              <a:t>public boolean isAnyLocalAddress()</a:t>
            </a:r>
            <a:endParaRPr lang="en-US" altLang="en-US" sz="2000"/>
          </a:p>
          <a:p>
            <a:r>
              <a:rPr lang="en-US" altLang="en-US" sz="2000"/>
              <a:t>public boolean isLoopbackAddress()</a:t>
            </a:r>
            <a:endParaRPr lang="en-US" altLang="en-US" sz="2000"/>
          </a:p>
          <a:p>
            <a:r>
              <a:rPr lang="en-US" altLang="en-US" sz="2000"/>
              <a:t>public boolean isLinkLocalAddress()</a:t>
            </a:r>
            <a:endParaRPr lang="en-US" altLang="en-US" sz="2000"/>
          </a:p>
          <a:p>
            <a:r>
              <a:rPr lang="en-US" altLang="en-US" sz="2000"/>
              <a:t>public boolean isSiteLocalAddress()</a:t>
            </a:r>
            <a:endParaRPr lang="en-US" altLang="en-US" sz="2000"/>
          </a:p>
          <a:p>
            <a:r>
              <a:rPr lang="en-US" altLang="en-US" sz="2000"/>
              <a:t>public boolean isMulticastAddress()</a:t>
            </a:r>
            <a:endParaRPr lang="en-US" altLang="en-US" sz="2000"/>
          </a:p>
          <a:p>
            <a:pPr marL="0" indent="0">
              <a:buNone/>
            </a:pPr>
            <a:r>
              <a:rPr lang="en-US" altLang="en-US" sz="2000"/>
              <a:t>    a). public boolean isMCGlobal()</a:t>
            </a:r>
            <a:endParaRPr lang="en-US" altLang="en-US" sz="2000"/>
          </a:p>
          <a:p>
            <a:pPr marL="0" indent="0">
              <a:buNone/>
            </a:pPr>
            <a:r>
              <a:rPr lang="en-US" altLang="en-US" sz="2000"/>
              <a:t>    b). public boolean isMCNodeLocal()</a:t>
            </a:r>
            <a:endParaRPr lang="en-US" altLang="en-US" sz="2000"/>
          </a:p>
          <a:p>
            <a:pPr marL="0" indent="0">
              <a:buNone/>
            </a:pPr>
            <a:r>
              <a:rPr lang="en-US" altLang="en-US" sz="2000"/>
              <a:t>    c). public boolean isMCLinkLocal() </a:t>
            </a:r>
            <a:endParaRPr lang="en-US" altLang="en-US" sz="2000"/>
          </a:p>
          <a:p>
            <a:pPr marL="0" indent="0">
              <a:buNone/>
            </a:pPr>
            <a:r>
              <a:rPr lang="en-US" altLang="en-US" sz="2000"/>
              <a:t>    d). public boolean isMCSiteLocal()</a:t>
            </a:r>
            <a:endParaRPr lang="en-US" altLang="en-US" sz="2000"/>
          </a:p>
          <a:p>
            <a:pPr marL="0" indent="0">
              <a:buNone/>
            </a:pPr>
            <a:r>
              <a:rPr lang="en-US" altLang="en-US" sz="2000"/>
              <a:t>    e). public boolean isMCOrgLocal()</a:t>
            </a:r>
            <a:endParaRPr lang="en-US" altLang="en-US"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391160"/>
            <a:ext cx="10515600" cy="5786120"/>
          </a:xfrm>
        </p:spPr>
        <p:txBody>
          <a:bodyPr/>
          <a:p>
            <a:r>
              <a:rPr lang="en-US" altLang="en-US" sz="2000"/>
              <a:t>The </a:t>
            </a:r>
            <a:r>
              <a:rPr lang="en-US" altLang="en-US" sz="2000" b="1"/>
              <a:t>isAnyLocalAddress() method</a:t>
            </a:r>
            <a:r>
              <a:rPr lang="en-US" altLang="en-US" sz="2000"/>
              <a:t> returns true if the address is a wildcard address, false otherwise. A wildcard address matches any address of the local system. This is important if the system has multiple network interfaces, as might be the case on a system with multiple Ethernet cards or an Ethernet card and an 802.11 WiFi  nterface. In IPv4, the wildcard address is 0.0.0.0. In IPv6, this address is 0:0:0:0:0:0:0:0 (a.k.a. ::).</a:t>
            </a:r>
            <a:endParaRPr lang="en-US" altLang="en-US" sz="2000"/>
          </a:p>
          <a:p>
            <a:r>
              <a:rPr lang="en-US" altLang="en-US" sz="2000"/>
              <a:t>The</a:t>
            </a:r>
            <a:r>
              <a:rPr lang="en-US" altLang="en-US" sz="2000" b="1"/>
              <a:t> isLoopbackAddress() method</a:t>
            </a:r>
            <a:r>
              <a:rPr lang="en-US" altLang="en-US" sz="2000"/>
              <a:t> is used to check if an IP address is a loopback  address. Loopback addresses (127.0.0.1 for IPv4 and ::1 for IPv6) refer to the local machine.</a:t>
            </a:r>
            <a:endParaRPr lang="en-US" altLang="en-US" sz="2000"/>
          </a:p>
          <a:p>
            <a:r>
              <a:rPr lang="en-US" altLang="en-US" sz="2000"/>
              <a:t>The</a:t>
            </a:r>
            <a:r>
              <a:rPr lang="en-US" altLang="en-US" sz="2000" b="1"/>
              <a:t> isLinkLocalAddress() method </a:t>
            </a:r>
            <a:r>
              <a:rPr lang="en-US" altLang="en-US" sz="2000"/>
              <a:t>returns true if the address is an IPv6 link-local address, false otherwise. This is an address used to help IPv6 networks self-configure, much like DHCP on IPv4 networks but without necessarily using a server. Routers do not forward packets addressed to a link-local address beyond the local subnet. All link_x0002_local addresses begin with the eight bytes FE80:0000:0000:0000. The next eight bytes are filled with a local address, often copied from the Ethernet MAC address assigned by the Ethernet card manufacturer.</a:t>
            </a:r>
            <a:endParaRPr lang="en-US" altLang="en-US" sz="2000"/>
          </a:p>
          <a:p>
            <a:r>
              <a:rPr lang="en-US" altLang="en-US" sz="2000"/>
              <a:t>The</a:t>
            </a:r>
            <a:r>
              <a:rPr lang="en-US" altLang="en-US" sz="2000" b="1"/>
              <a:t> isSiteLocalAddress() method </a:t>
            </a:r>
            <a:r>
              <a:rPr lang="en-US" altLang="en-US" sz="2000"/>
              <a:t>returns true if the address is an IPv6 site-local address, false otherwise. Site-local addresses begin with the eight bytes FEC0:0000:0000:0000. The next eight bytes are filled with a local address, often copied from the Ethernet MAC address assigned by the Ethernet card manufacturer.</a:t>
            </a:r>
            <a:endParaRPr lang="en-US" alt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273050"/>
            <a:ext cx="10515600" cy="5904230"/>
          </a:xfrm>
        </p:spPr>
        <p:txBody>
          <a:bodyPr/>
          <a:p>
            <a:r>
              <a:rPr lang="en-US" altLang="en-US" sz="2000"/>
              <a:t>The</a:t>
            </a:r>
            <a:r>
              <a:rPr lang="en-US" altLang="en-US" sz="2000" b="1"/>
              <a:t> isMulticastAddress() method</a:t>
            </a:r>
            <a:r>
              <a:rPr lang="en-US" altLang="en-US" sz="2000"/>
              <a:t> returns true if the address is a multicast address, false otherwise. Multicasting broadcasts content to all subscribed computers rather than to one particular computer. In IPv4, multicast addresses all fall in the range 224.0.0.0 to 239.255.255.255. In IPv6, they all begin with byte FF.</a:t>
            </a:r>
            <a:endParaRPr lang="en-US" altLang="en-US" sz="2000"/>
          </a:p>
          <a:p>
            <a:r>
              <a:rPr lang="en-US" altLang="en-US" sz="2000" b="1">
                <a:sym typeface="+mn-ea"/>
              </a:rPr>
              <a:t>isMCGlobal</a:t>
            </a:r>
            <a:r>
              <a:rPr lang="en-US" altLang="en-US" sz="2000" b="1"/>
              <a:t> Method</a:t>
            </a:r>
            <a:r>
              <a:rPr lang="en-US" altLang="en-US" sz="2000"/>
              <a:t> checks whether an IP address is a globally scoped multicast address,  meaning it is intended for global communication across the internet. Useful for applications like live  streaming, real-time data distribution, and distributed computing. In IPv4 it ranges from 224.0.1.0 to  238.255.255.255 and in IPv6 it starting with ff0e::/16 </a:t>
            </a:r>
            <a:endParaRPr lang="en-US" altLang="en-US" sz="2000"/>
          </a:p>
          <a:p>
            <a:r>
              <a:rPr lang="en-US" altLang="en-US" sz="2000"/>
              <a:t>The</a:t>
            </a:r>
            <a:r>
              <a:rPr lang="en-US" altLang="en-US" sz="2000" b="1"/>
              <a:t> isMCOrgLocal() method</a:t>
            </a:r>
            <a:r>
              <a:rPr lang="en-US" altLang="en-US" sz="2000"/>
              <a:t> returns true if the address is an organization-wide multicast address, false otherwise. An organization-wide multicast address may have subscribers within all the sites of a company or organization, but not outside that organization.</a:t>
            </a:r>
            <a:endParaRPr lang="en-US" altLang="en-US" sz="2000"/>
          </a:p>
          <a:p>
            <a:r>
              <a:rPr lang="en-US" altLang="en-US" sz="2000"/>
              <a:t>The </a:t>
            </a:r>
            <a:r>
              <a:rPr lang="en-US" altLang="en-US" sz="2000" b="1"/>
              <a:t>isMCSiteLocal() method</a:t>
            </a:r>
            <a:r>
              <a:rPr lang="en-US" altLang="en-US" sz="2000"/>
              <a:t> returns true if the address is a site-wide multicast address, false otherwise. Packets addressed to a site-wide address will only be transmitted within their local site. Site-wide multicast addresses begin with FF05 or FF15, depending on whether the multicast address is a well known permanently assigned address or a transient address.</a:t>
            </a:r>
            <a:endParaRPr lang="en-US" altLang="en-US" sz="2000"/>
          </a:p>
          <a:p>
            <a:r>
              <a:rPr lang="en-US" altLang="en-US" sz="2000" b="1"/>
              <a:t> isMCNodeLocal()</a:t>
            </a:r>
            <a:r>
              <a:rPr lang="en-US" altLang="en-US" sz="2000"/>
              <a:t>: It checks whether an IP address is a node-local multicast address,  meaning it is restricted to a single device (node) and is not forwarded beyond the local interface.  Useful for inter-process communication (IPC) within a device. IPv4 does not support node-local  multicast, so this method only applies to IPv6 it starting with ff01::/16. </a:t>
            </a:r>
            <a:endParaRPr lang="en-US" altLang="en-US" sz="2000"/>
          </a:p>
          <a:p>
            <a:endParaRPr lang="en-US" alt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433705"/>
            <a:ext cx="10515600" cy="5743575"/>
          </a:xfrm>
        </p:spPr>
        <p:txBody>
          <a:bodyPr/>
          <a:p>
            <a:pPr algn="just"/>
            <a:r>
              <a:rPr lang="en-US" altLang="en-US" sz="2000" b="1"/>
              <a:t>isMCLinkLocal():</a:t>
            </a:r>
            <a:r>
              <a:rPr lang="en-US" altLang="en-US" sz="2000"/>
              <a:t> It checks whether an IP address is a link-local multicast address,  meaning it is restricted to the local network segment (link) and is not forwarded beyond it. In IPv4, link local multicast addresses are in the range 224.0.0.0 to 224.0.0.255. In IPv6, link-local multicast  addresses are in the range ff02::/16. This method is useful for network programming, especially when  you need to handle multicast communication within the local network. </a:t>
            </a:r>
            <a:endParaRPr lang="en-US" altLang="en-US" sz="2000"/>
          </a:p>
          <a:p>
            <a:pPr algn="just"/>
            <a:endParaRPr lang="en-US" alt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9268</Words>
  <Application>WPS Presentation</Application>
  <PresentationFormat>Widescreen</PresentationFormat>
  <Paragraphs>100</Paragraphs>
  <Slides>15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Arial</vt:lpstr>
      <vt:lpstr>SimSun</vt:lpstr>
      <vt:lpstr>Wingdings</vt:lpstr>
      <vt:lpstr>Calibri</vt:lpstr>
      <vt:lpstr>Microsoft YaHei</vt:lpstr>
      <vt:lpstr>Arial Unicode MS</vt:lpstr>
      <vt:lpstr>Calibri Light</vt:lpstr>
      <vt:lpstr>Office Theme</vt:lpstr>
      <vt:lpstr>PowerPoint 演示文稿</vt:lpstr>
      <vt:lpstr>IP Address</vt:lpstr>
      <vt:lpstr>PowerPoint 演示文稿</vt:lpstr>
      <vt:lpstr>IPv4 </vt:lpstr>
      <vt:lpstr>IPv6</vt:lpstr>
      <vt:lpstr>InetAddress Class</vt:lpstr>
      <vt:lpstr>Creating New InetAddress Objects</vt:lpstr>
      <vt:lpstr>Getter Methods</vt:lpstr>
      <vt:lpstr>PowerPoint 演示文稿</vt:lpstr>
      <vt:lpstr>PowerPoint 演示文稿</vt:lpstr>
      <vt:lpstr>Address Types</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Pappu jaiswal</dc:creator>
  <cp:lastModifiedBy>Pappu Jaiswal</cp:lastModifiedBy>
  <cp:revision>66</cp:revision>
  <dcterms:created xsi:type="dcterms:W3CDTF">2025-07-23T00:59:00Z</dcterms:created>
  <dcterms:modified xsi:type="dcterms:W3CDTF">2025-11-16T00:37:14Z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91D2E3D913B646C1832400A71FFE9FA2_11</vt:lpwstr>
  </property>
  <property fmtid="{D5CDD505-2E9C-101B-9397-08002B2CF9AE}" pid="3" name="KSOProductBuildVer">
    <vt:lpwstr>1033-12.2.0.23155</vt:lpwstr>
  </property>
</Properties>
</file>